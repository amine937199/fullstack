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79" r:id="rId4"/>
    <p:sldId id="259" r:id="rId5"/>
    <p:sldId id="291" r:id="rId6"/>
    <p:sldId id="295" r:id="rId7"/>
    <p:sldId id="301" r:id="rId8"/>
    <p:sldId id="302" r:id="rId9"/>
    <p:sldId id="303" r:id="rId10"/>
    <p:sldId id="299" r:id="rId11"/>
    <p:sldId id="29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293" r:id="rId20"/>
    <p:sldId id="320" r:id="rId21"/>
    <p:sldId id="322" r:id="rId22"/>
    <p:sldId id="326" r:id="rId23"/>
    <p:sldId id="323" r:id="rId24"/>
    <p:sldId id="324" r:id="rId25"/>
    <p:sldId id="325" r:id="rId26"/>
    <p:sldId id="294" r:id="rId27"/>
    <p:sldId id="306" r:id="rId28"/>
    <p:sldId id="307" r:id="rId29"/>
    <p:sldId id="308" r:id="rId30"/>
    <p:sldId id="309" r:id="rId31"/>
    <p:sldId id="311" r:id="rId32"/>
    <p:sldId id="312" r:id="rId33"/>
    <p:sldId id="288" r:id="rId34"/>
    <p:sldId id="286" r:id="rId35"/>
    <p:sldId id="275" r:id="rId36"/>
  </p:sldIdLst>
  <p:sldSz cx="18288000" cy="10287000"/>
  <p:notesSz cx="6858000" cy="9144000"/>
  <p:embeddedFontLst>
    <p:embeddedFont>
      <p:font typeface="Avenir" panose="020B0604020202020204" charset="0"/>
      <p:regular r:id="rId38"/>
    </p:embeddedFont>
    <p:embeddedFont>
      <p:font typeface="Avenir Bold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DC4540-CB57-4740-9112-C414DD471B8F}">
          <p14:sldIdLst>
            <p14:sldId id="256"/>
            <p14:sldId id="257"/>
            <p14:sldId id="279"/>
            <p14:sldId id="259"/>
            <p14:sldId id="291"/>
            <p14:sldId id="295"/>
            <p14:sldId id="301"/>
            <p14:sldId id="302"/>
            <p14:sldId id="303"/>
            <p14:sldId id="299"/>
            <p14:sldId id="292"/>
            <p14:sldId id="313"/>
            <p14:sldId id="314"/>
            <p14:sldId id="315"/>
            <p14:sldId id="316"/>
            <p14:sldId id="317"/>
            <p14:sldId id="318"/>
            <p14:sldId id="319"/>
            <p14:sldId id="293"/>
            <p14:sldId id="320"/>
            <p14:sldId id="322"/>
            <p14:sldId id="326"/>
            <p14:sldId id="323"/>
            <p14:sldId id="324"/>
            <p14:sldId id="325"/>
            <p14:sldId id="294"/>
            <p14:sldId id="306"/>
            <p14:sldId id="307"/>
            <p14:sldId id="308"/>
            <p14:sldId id="309"/>
            <p14:sldId id="311"/>
            <p14:sldId id="312"/>
            <p14:sldId id="288"/>
            <p14:sldId id="286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A9AD"/>
    <a:srgbClr val="F2F2F2"/>
    <a:srgbClr val="7F7F7F"/>
    <a:srgbClr val="959595"/>
    <a:srgbClr val="8DA7AB"/>
    <a:srgbClr val="D9D9D9"/>
    <a:srgbClr val="8A8A8A"/>
    <a:srgbClr val="FFFFFF"/>
    <a:srgbClr val="FBFBFB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3741" autoAdjust="0"/>
  </p:normalViewPr>
  <p:slideViewPr>
    <p:cSldViewPr>
      <p:cViewPr varScale="1">
        <p:scale>
          <a:sx n="49" d="100"/>
          <a:sy n="49" d="100"/>
        </p:scale>
        <p:origin x="38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87575B-A3FC-4AC9-8B13-028A2B22B099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6D3D0-53D1-4DA0-908A-6A22341FF8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9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6D3D0-53D1-4DA0-908A-6A22341FF8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84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74308-2A91-0467-613E-7A811176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AFDBD-D341-58E5-BE5F-4EB688E97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4C88C-ED4F-0875-E653-4BC1F537C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42FC2-A364-7471-1F4C-E9C92846B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6D3D0-53D1-4DA0-908A-6A22341FF8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111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DEAD0-BE2A-3CA8-47A4-665A2122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C87A9-0AF0-0CA2-A38B-C06DE9B14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C1764-C982-D799-D9C0-AEE49E52E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3B9B9-2D2D-CC2C-157A-83284C428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6D3D0-53D1-4DA0-908A-6A22341FF8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083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EB92B-1349-4FFB-E213-F9F5F0330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27DF6-588D-1861-FF55-CB84C99FF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29106-ED09-0ED7-7971-7EAA1C9D4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5F53-FAD8-D258-691A-5E3165821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6D3D0-53D1-4DA0-908A-6A22341FF86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045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8FD84-D220-937D-6A23-ADB675C61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D0B87-F921-E97E-F3F8-7AFB9C51B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65752-70A4-EB8E-731F-3E7DE10D4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816AA-B538-92FC-A083-1A58714CD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6D3D0-53D1-4DA0-908A-6A22341FF86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988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6D3D0-53D1-4DA0-908A-6A22341FF869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62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6D3D0-53D1-4DA0-908A-6A22341FF869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73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06500"/>
            <a:ext cx="16230600" cy="8451800"/>
            <a:chOff x="0" y="-38100"/>
            <a:chExt cx="4274726" cy="2205567"/>
          </a:xfrm>
          <a:effectLst/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prstGeom prst="roundRect">
              <a:avLst/>
            </a:prstGeom>
            <a:ln>
              <a:solidFill>
                <a:srgbClr val="8DA7AB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algn="just"/>
              <a:endParaRPr lang="fr-FR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oundRect">
              <a:avLst>
                <a:gd name="adj" fmla="val 1928"/>
              </a:avLst>
            </a:prstGeom>
            <a:ln w="57150">
              <a:solidFill>
                <a:srgbClr val="8DA7AB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1981200" y="-94024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6" name="Freeform 6"/>
          <p:cNvSpPr/>
          <p:nvPr/>
        </p:nvSpPr>
        <p:spPr>
          <a:xfrm>
            <a:off x="7226073" y="1136161"/>
            <a:ext cx="3835854" cy="1721339"/>
          </a:xfrm>
          <a:custGeom>
            <a:avLst/>
            <a:gdLst/>
            <a:ahLst/>
            <a:cxnLst/>
            <a:rect l="l" t="t" r="r" b="b"/>
            <a:pathLst>
              <a:path w="3276941" h="1470527">
                <a:moveTo>
                  <a:pt x="0" y="0"/>
                </a:moveTo>
                <a:lnTo>
                  <a:pt x="3276940" y="0"/>
                </a:lnTo>
                <a:lnTo>
                  <a:pt x="3276940" y="1470527"/>
                </a:lnTo>
                <a:lnTo>
                  <a:pt x="0" y="1470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0E8A0137-D631-4C9F-A65E-437BD958F938}"/>
              </a:ext>
            </a:extLst>
          </p:cNvPr>
          <p:cNvSpPr/>
          <p:nvPr/>
        </p:nvSpPr>
        <p:spPr>
          <a:xfrm>
            <a:off x="12203824" y="81558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B5C71-1EB6-4A6E-B863-2BFDA77F18EC}"/>
              </a:ext>
            </a:extLst>
          </p:cNvPr>
          <p:cNvSpPr txBox="1"/>
          <p:nvPr/>
        </p:nvSpPr>
        <p:spPr>
          <a:xfrm>
            <a:off x="6267450" y="3238518"/>
            <a:ext cx="5753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tabLst>
                <a:tab pos="9952038" algn="l"/>
              </a:tabLst>
            </a:pPr>
            <a:r>
              <a:rPr lang="fr-FR" sz="4000" b="1" noProof="0" dirty="0">
                <a:latin typeface="Avenir Bold" panose="020B0604020202020204" charset="0"/>
                <a:ea typeface="+mj-ea"/>
                <a:cs typeface="Biome Light" panose="020B0303030204020804" pitchFamily="34" charset="0"/>
              </a:rPr>
              <a:t>Projet final du module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149EB-60C5-4517-8CDE-38203908D22F}"/>
              </a:ext>
            </a:extLst>
          </p:cNvPr>
          <p:cNvSpPr txBox="1"/>
          <p:nvPr/>
        </p:nvSpPr>
        <p:spPr>
          <a:xfrm>
            <a:off x="1790700" y="4207577"/>
            <a:ext cx="14706600" cy="1235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fr-FR" sz="6000" b="1" noProof="0" dirty="0">
                <a:solidFill>
                  <a:srgbClr val="8DA7AB"/>
                </a:solidFill>
                <a:latin typeface="Avenir" panose="020B0604020202020204" charset="0"/>
                <a:ea typeface="+mj-ea"/>
                <a:cs typeface="Biome Light" panose="020B0303030204020804" pitchFamily="34" charset="0"/>
              </a:rPr>
              <a:t>Développement Backend avec Node.js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6C0022-1499-4295-A4FF-E92A3592E95D}"/>
              </a:ext>
            </a:extLst>
          </p:cNvPr>
          <p:cNvSpPr txBox="1"/>
          <p:nvPr/>
        </p:nvSpPr>
        <p:spPr>
          <a:xfrm>
            <a:off x="3505812" y="6510637"/>
            <a:ext cx="3504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0" dirty="0">
                <a:latin typeface="Avenir" panose="020B0604020202020204" charset="0"/>
                <a:cs typeface="Biome Light" panose="020B0303030204020804" pitchFamily="34" charset="0"/>
              </a:rPr>
              <a:t>BOUZZITE Mohammed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A41D2A-8495-4A1D-8DDF-9D817E8258C1}"/>
              </a:ext>
            </a:extLst>
          </p:cNvPr>
          <p:cNvSpPr txBox="1"/>
          <p:nvPr/>
        </p:nvSpPr>
        <p:spPr>
          <a:xfrm>
            <a:off x="7620386" y="8467596"/>
            <a:ext cx="3047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noProof="0" dirty="0">
                <a:latin typeface="Avenir" panose="020B0604020202020204" charset="0"/>
                <a:cs typeface="Biome Light" panose="020B0303030204020804" pitchFamily="34" charset="0"/>
              </a:rPr>
              <a:t>14 Novembre 2025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094863-FA7D-4B1E-B042-014D2D0B7F20}"/>
              </a:ext>
            </a:extLst>
          </p:cNvPr>
          <p:cNvSpPr txBox="1"/>
          <p:nvPr/>
        </p:nvSpPr>
        <p:spPr>
          <a:xfrm>
            <a:off x="2971800" y="5941104"/>
            <a:ext cx="2475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0" dirty="0">
                <a:solidFill>
                  <a:srgbClr val="8DA7AB"/>
                </a:solidFill>
                <a:latin typeface="Avenir" panose="020B0604020202020204" charset="0"/>
                <a:cs typeface="Biome Light" panose="020B0303030204020804" pitchFamily="34" charset="0"/>
              </a:rPr>
              <a:t>Présenté par: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483E73-89ED-4533-9477-AC2483A102D9}"/>
              </a:ext>
            </a:extLst>
          </p:cNvPr>
          <p:cNvSpPr txBox="1"/>
          <p:nvPr/>
        </p:nvSpPr>
        <p:spPr>
          <a:xfrm>
            <a:off x="3505811" y="7082136"/>
            <a:ext cx="2513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venir" panose="020B0604020202020204" charset="0"/>
                <a:cs typeface="Biome Light" panose="020B0303030204020804" pitchFamily="34" charset="0"/>
              </a:rPr>
              <a:t>MAKEA Lamya</a:t>
            </a:r>
            <a:endParaRPr lang="fr-FR" sz="2400" noProof="0" dirty="0">
              <a:latin typeface="Avenir" panose="020B0604020202020204" charset="0"/>
              <a:cs typeface="Biome Light" panose="020B03030302040208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C4B703-587B-4477-BFF4-28E01078D880}"/>
              </a:ext>
            </a:extLst>
          </p:cNvPr>
          <p:cNvSpPr txBox="1"/>
          <p:nvPr/>
        </p:nvSpPr>
        <p:spPr>
          <a:xfrm>
            <a:off x="12840311" y="6510637"/>
            <a:ext cx="2704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Avenir" panose="020B0604020202020204" charset="0"/>
                <a:cs typeface="Biome Light" panose="020B0303030204020804" pitchFamily="34" charset="0"/>
              </a:rPr>
              <a:t>ACHAQ Youness</a:t>
            </a:r>
            <a:endParaRPr lang="fr-FR" sz="2400" noProof="0" dirty="0">
              <a:latin typeface="Avenir" panose="020B0604020202020204" charset="0"/>
              <a:cs typeface="Biome Light" panose="020B03030302040208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A91A47-72D8-4BB0-AF62-DD5EF67C2AB9}"/>
              </a:ext>
            </a:extLst>
          </p:cNvPr>
          <p:cNvSpPr txBox="1"/>
          <p:nvPr/>
        </p:nvSpPr>
        <p:spPr>
          <a:xfrm>
            <a:off x="12306300" y="5941104"/>
            <a:ext cx="2475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0" dirty="0">
                <a:solidFill>
                  <a:srgbClr val="8DA7AB"/>
                </a:solidFill>
                <a:latin typeface="Avenir" panose="020B0604020202020204" charset="0"/>
                <a:cs typeface="Biome Light" panose="020B0303030204020804" pitchFamily="34" charset="0"/>
              </a:rPr>
              <a:t>Supervisé par: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E9BFD0-3797-44C4-813C-B1359163E6D1}"/>
              </a:ext>
            </a:extLst>
          </p:cNvPr>
          <p:cNvSpPr txBox="1"/>
          <p:nvPr/>
        </p:nvSpPr>
        <p:spPr>
          <a:xfrm>
            <a:off x="3505811" y="7653635"/>
            <a:ext cx="3504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venir" panose="020B0604020202020204" charset="0"/>
                <a:cs typeface="Biome Light" panose="020B0303030204020804" pitchFamily="34" charset="0"/>
              </a:rPr>
              <a:t>BENTER Redouane</a:t>
            </a:r>
            <a:endParaRPr lang="fr-FR" sz="2400" noProof="0" dirty="0">
              <a:latin typeface="Avenir" panose="020B0604020202020204" charset="0"/>
              <a:cs typeface="Biome Light" panose="020B03030302040208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E3D1E6-EBBE-49D8-90CC-FEF95F2E02BD}"/>
              </a:ext>
            </a:extLst>
          </p:cNvPr>
          <p:cNvSpPr txBox="1"/>
          <p:nvPr/>
        </p:nvSpPr>
        <p:spPr>
          <a:xfrm>
            <a:off x="3505200" y="8225134"/>
            <a:ext cx="2762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venir" panose="020B0604020202020204" charset="0"/>
                <a:cs typeface="Biome Light" panose="020B0303030204020804" pitchFamily="34" charset="0"/>
              </a:rPr>
              <a:t>HOUMADI Amine</a:t>
            </a:r>
            <a:endParaRPr lang="fr-FR" sz="2400" noProof="0" dirty="0">
              <a:latin typeface="Avenir" panose="020B0604020202020204" charset="0"/>
              <a:cs typeface="Biome Light" panose="020B03030302040208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56322" y="0"/>
            <a:ext cx="4102978" cy="3133183"/>
          </a:xfrm>
          <a:custGeom>
            <a:avLst/>
            <a:gdLst/>
            <a:ahLst/>
            <a:cxnLst/>
            <a:rect l="l" t="t" r="r" b="b"/>
            <a:pathLst>
              <a:path w="4102978" h="3133183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Box 3"/>
          <p:cNvSpPr txBox="1"/>
          <p:nvPr/>
        </p:nvSpPr>
        <p:spPr>
          <a:xfrm>
            <a:off x="11759210" y="6766554"/>
            <a:ext cx="5500090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fr-FR" sz="75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TABLE DE MATIÈRES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17556" y="909436"/>
            <a:ext cx="1938412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fr-FR" sz="70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01.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17556" y="2225290"/>
            <a:ext cx="1938412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fr-FR" sz="70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02.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55968" y="1153092"/>
            <a:ext cx="672644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3500" b="1" noProof="0" dirty="0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55968" y="2468946"/>
            <a:ext cx="672644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3500" b="1" noProof="0" dirty="0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Node.js &amp; Vanilla JS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17556" y="3541143"/>
            <a:ext cx="1938412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fr-FR" sz="70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03.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55968" y="3794377"/>
            <a:ext cx="10731631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3500" b="1" noProof="0" dirty="0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Structure et Architecture du Projet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17556" y="4873080"/>
            <a:ext cx="1938412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fr-FR" sz="70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04.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55968" y="5119808"/>
            <a:ext cx="672644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3500" b="1" noProof="0" dirty="0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Persistance &amp; Sécurité </a:t>
            </a:r>
          </a:p>
        </p:txBody>
      </p:sp>
      <p:sp>
        <p:nvSpPr>
          <p:cNvPr id="12" name="Freeform 12"/>
          <p:cNvSpPr/>
          <p:nvPr/>
        </p:nvSpPr>
        <p:spPr>
          <a:xfrm>
            <a:off x="2417556" y="9164276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E687CE77-4E68-68BF-76A8-0A90F0810397}"/>
              </a:ext>
            </a:extLst>
          </p:cNvPr>
          <p:cNvSpPr txBox="1"/>
          <p:nvPr/>
        </p:nvSpPr>
        <p:spPr>
          <a:xfrm>
            <a:off x="2417556" y="6205017"/>
            <a:ext cx="1938412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fr-FR" sz="70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05.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4CF9A859-408B-955A-076C-6BAE2D0EE438}"/>
              </a:ext>
            </a:extLst>
          </p:cNvPr>
          <p:cNvSpPr txBox="1"/>
          <p:nvPr/>
        </p:nvSpPr>
        <p:spPr>
          <a:xfrm>
            <a:off x="2417556" y="7536954"/>
            <a:ext cx="1938412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fr-FR" sz="70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04.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025334E4-98D0-2B09-4B5B-213A1AE603F8}"/>
              </a:ext>
            </a:extLst>
          </p:cNvPr>
          <p:cNvSpPr txBox="1"/>
          <p:nvPr/>
        </p:nvSpPr>
        <p:spPr>
          <a:xfrm>
            <a:off x="4355968" y="6527246"/>
            <a:ext cx="672644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3500" b="1" noProof="0" dirty="0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Tests et Déploiement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66207135-A671-EB0B-D68F-E3AAA219CC75}"/>
              </a:ext>
            </a:extLst>
          </p:cNvPr>
          <p:cNvSpPr txBox="1"/>
          <p:nvPr/>
        </p:nvSpPr>
        <p:spPr>
          <a:xfrm>
            <a:off x="4355968" y="7780610"/>
            <a:ext cx="672644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3500" b="1" noProof="0" dirty="0">
                <a:solidFill>
                  <a:srgbClr val="737373"/>
                </a:solidFill>
                <a:latin typeface="Avenir Bold"/>
                <a:ea typeface="Avenir Bold"/>
                <a:cs typeface="Avenir Bold"/>
                <a:sym typeface="Avenir Bold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131678" y="4594151"/>
            <a:ext cx="9498722" cy="1098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lang="fr-FR" sz="9600" b="1" noProof="0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90700" y="1714500"/>
            <a:ext cx="1938412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fr-FR" sz="7000" b="1" noProof="0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01.</a:t>
            </a:r>
          </a:p>
        </p:txBody>
      </p:sp>
      <p:sp>
        <p:nvSpPr>
          <p:cNvPr id="8" name="Freeform 8"/>
          <p:cNvSpPr/>
          <p:nvPr/>
        </p:nvSpPr>
        <p:spPr>
          <a:xfrm>
            <a:off x="5893678" y="8135576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9" name="Freeform 9"/>
          <p:cNvSpPr/>
          <p:nvPr/>
        </p:nvSpPr>
        <p:spPr>
          <a:xfrm>
            <a:off x="1028700" y="8135576"/>
            <a:ext cx="4102978" cy="3133183"/>
          </a:xfrm>
          <a:custGeom>
            <a:avLst/>
            <a:gdLst/>
            <a:ahLst/>
            <a:cxnLst/>
            <a:rect l="l" t="t" r="r" b="b"/>
            <a:pathLst>
              <a:path w="4102978" h="3133183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grpSp>
        <p:nvGrpSpPr>
          <p:cNvPr id="10" name="Group 10"/>
          <p:cNvGrpSpPr/>
          <p:nvPr/>
        </p:nvGrpSpPr>
        <p:grpSpPr>
          <a:xfrm>
            <a:off x="13543121" y="-308824"/>
            <a:ext cx="7549097" cy="8444400"/>
            <a:chOff x="0" y="0"/>
            <a:chExt cx="10065462" cy="11259200"/>
          </a:xfrm>
        </p:grpSpPr>
        <p:sp>
          <p:nvSpPr>
            <p:cNvPr id="11" name="AutoShape 11"/>
            <p:cNvSpPr/>
            <p:nvPr/>
          </p:nvSpPr>
          <p:spPr>
            <a:xfrm flipV="1">
              <a:off x="23020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AutoShape 12"/>
            <p:cNvSpPr/>
            <p:nvPr/>
          </p:nvSpPr>
          <p:spPr>
            <a:xfrm flipV="1">
              <a:off x="554040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AutoShape 13"/>
            <p:cNvSpPr/>
            <p:nvPr/>
          </p:nvSpPr>
          <p:spPr>
            <a:xfrm flipV="1">
              <a:off x="108506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161608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AutoShape 15"/>
            <p:cNvSpPr/>
            <p:nvPr/>
          </p:nvSpPr>
          <p:spPr>
            <a:xfrm flipV="1">
              <a:off x="214710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AutoShape 16"/>
            <p:cNvSpPr/>
            <p:nvPr/>
          </p:nvSpPr>
          <p:spPr>
            <a:xfrm flipV="1">
              <a:off x="267812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AutoShape 17"/>
            <p:cNvSpPr/>
            <p:nvPr/>
          </p:nvSpPr>
          <p:spPr>
            <a:xfrm flipV="1">
              <a:off x="320914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AutoShape 18"/>
            <p:cNvSpPr/>
            <p:nvPr/>
          </p:nvSpPr>
          <p:spPr>
            <a:xfrm flipV="1">
              <a:off x="374016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427118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AutoShape 20"/>
            <p:cNvSpPr/>
            <p:nvPr/>
          </p:nvSpPr>
          <p:spPr>
            <a:xfrm flipV="1">
              <a:off x="480220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57311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38400" y="9563100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1752600" y="1409700"/>
            <a:ext cx="6726444" cy="733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fr-FR" sz="4500" b="1" noProof="0" dirty="0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INTRODUCTION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1585918-FB02-7022-8CA9-817654B04205}"/>
              </a:ext>
            </a:extLst>
          </p:cNvPr>
          <p:cNvGrpSpPr/>
          <p:nvPr/>
        </p:nvGrpSpPr>
        <p:grpSpPr>
          <a:xfrm>
            <a:off x="2590800" y="2761610"/>
            <a:ext cx="13106400" cy="6139935"/>
            <a:chOff x="2286000" y="2591425"/>
            <a:chExt cx="13106400" cy="613993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1DCBA5-78E7-7E78-172A-3074B65CA47F}"/>
                </a:ext>
              </a:extLst>
            </p:cNvPr>
            <p:cNvSpPr txBox="1"/>
            <p:nvPr/>
          </p:nvSpPr>
          <p:spPr>
            <a:xfrm>
              <a:off x="2286000" y="2591425"/>
              <a:ext cx="1143000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200" b="1" dirty="0">
                  <a:solidFill>
                    <a:srgbClr val="7F7F7F"/>
                  </a:solidFill>
                </a:rPr>
                <a:t>Projet : Smart Inventory System</a:t>
              </a:r>
            </a:p>
            <a:p>
              <a:endParaRPr lang="fr-FR" sz="2800" dirty="0"/>
            </a:p>
            <a:p>
              <a:pPr marL="1257300" lvl="2" indent="-342900">
                <a:buFont typeface="Wingdings" panose="05000000000000000000" pitchFamily="2" charset="2"/>
                <a:buChar char="§"/>
              </a:pPr>
              <a:r>
                <a:rPr lang="fr-FR" sz="2400" dirty="0"/>
                <a:t>Développement d'une API RESTful pour la gestion de stock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322FB32-653C-57E2-77B7-1034C81F1C0B}"/>
                </a:ext>
              </a:extLst>
            </p:cNvPr>
            <p:cNvSpPr txBox="1"/>
            <p:nvPr/>
          </p:nvSpPr>
          <p:spPr>
            <a:xfrm>
              <a:off x="2286000" y="4421250"/>
              <a:ext cx="13106400" cy="2708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200" b="1" dirty="0">
                  <a:solidFill>
                    <a:srgbClr val="7F7F7F"/>
                  </a:solidFill>
                </a:rPr>
                <a:t>Contexte :</a:t>
              </a:r>
            </a:p>
            <a:p>
              <a:endParaRPr lang="fr-FR" dirty="0"/>
            </a:p>
            <a:p>
              <a:pPr marL="1257300" lvl="2" indent="-342900">
                <a:buFont typeface="Wingdings" panose="05000000000000000000" pitchFamily="2" charset="2"/>
                <a:buChar char="§"/>
              </a:pPr>
              <a:r>
                <a:rPr lang="fr-FR" sz="2400" dirty="0"/>
                <a:t>Création d'un système de gestion d'inventaire moderne</a:t>
              </a:r>
            </a:p>
            <a:p>
              <a:pPr lvl="2"/>
              <a:endParaRPr lang="fr-FR" sz="2400" dirty="0"/>
            </a:p>
            <a:p>
              <a:pPr marL="1257300" lvl="2" indent="-342900">
                <a:buFont typeface="Wingdings" panose="05000000000000000000" pitchFamily="2" charset="2"/>
                <a:buChar char="§"/>
              </a:pPr>
              <a:r>
                <a:rPr lang="fr-FR" sz="2400" dirty="0"/>
                <a:t>API permettant de consulter produits et commandes</a:t>
              </a:r>
            </a:p>
            <a:p>
              <a:pPr marL="1257300" lvl="2" indent="-342900">
                <a:buFont typeface="Wingdings" panose="05000000000000000000" pitchFamily="2" charset="2"/>
                <a:buChar char="§"/>
              </a:pPr>
              <a:endParaRPr lang="fr-FR" sz="2400" dirty="0"/>
            </a:p>
            <a:p>
              <a:pPr marL="1257300" lvl="2" indent="-342900">
                <a:buFont typeface="Wingdings" panose="05000000000000000000" pitchFamily="2" charset="2"/>
                <a:buChar char="§"/>
              </a:pPr>
              <a:r>
                <a:rPr lang="fr-FR" sz="2400" dirty="0"/>
                <a:t>Evolution progressive sur 4 versions (Vanilla → Express → Persistance → Production)</a:t>
              </a:r>
              <a:endParaRPr lang="en-US" sz="24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2927BAB-9563-A08F-4C8F-81A4CDC907B7}"/>
                </a:ext>
              </a:extLst>
            </p:cNvPr>
            <p:cNvSpPr txBox="1"/>
            <p:nvPr/>
          </p:nvSpPr>
          <p:spPr>
            <a:xfrm>
              <a:off x="2286000" y="7500254"/>
              <a:ext cx="9144000" cy="12311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200" b="1" dirty="0">
                  <a:solidFill>
                    <a:srgbClr val="7F7F7F"/>
                  </a:solidFill>
                </a:rPr>
                <a:t>Choix Technologique :</a:t>
              </a:r>
            </a:p>
            <a:p>
              <a:endParaRPr lang="fr-FR" dirty="0"/>
            </a:p>
            <a:p>
              <a:pPr marL="1257300" lvl="2" indent="-342900">
                <a:buFont typeface="Wingdings" panose="05000000000000000000" pitchFamily="2" charset="2"/>
                <a:buChar char="§"/>
              </a:pPr>
              <a:r>
                <a:rPr lang="fr-FR" sz="2400" b="1" dirty="0"/>
                <a:t>Node.js </a:t>
              </a:r>
              <a:r>
                <a:rPr lang="fr-FR" sz="2400" dirty="0"/>
                <a:t>- Environnement d'exécution JavaScript côté serveur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76878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C9FCC-9FDC-342C-B2C5-6DC29C89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0447CC-4A06-86C0-3965-113689932D9A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01E91C9-A5CF-B044-E098-B8602F2A3CB6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2FE1F1A-CE70-6A4F-9F9F-A4E40FB983C1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84DDA7D5-2B83-EF80-45F9-DD95875F8CCE}"/>
              </a:ext>
            </a:extLst>
          </p:cNvPr>
          <p:cNvSpPr txBox="1"/>
          <p:nvPr/>
        </p:nvSpPr>
        <p:spPr>
          <a:xfrm>
            <a:off x="3238500" y="4455616"/>
            <a:ext cx="118110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8000" b="1" noProof="0" dirty="0">
                <a:solidFill>
                  <a:schemeClr val="bg1"/>
                </a:solidFill>
                <a:latin typeface="Avenir Bold"/>
                <a:ea typeface="Avenir Bold"/>
                <a:cs typeface="Avenir Bold"/>
                <a:sym typeface="Avenir Bold"/>
              </a:rPr>
              <a:t>NODE.JS &amp; VANILLA JS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32BA041-7BC5-B9FC-BD48-50A0D077460B}"/>
              </a:ext>
            </a:extLst>
          </p:cNvPr>
          <p:cNvSpPr txBox="1"/>
          <p:nvPr/>
        </p:nvSpPr>
        <p:spPr>
          <a:xfrm>
            <a:off x="1790700" y="1714500"/>
            <a:ext cx="1938412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fr-FR" sz="7000" b="1" noProof="0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02.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E01CE87-ACDC-EA38-EAB8-06F116F690E7}"/>
              </a:ext>
            </a:extLst>
          </p:cNvPr>
          <p:cNvSpPr/>
          <p:nvPr/>
        </p:nvSpPr>
        <p:spPr>
          <a:xfrm>
            <a:off x="5893678" y="8135576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9534447-FE12-B063-A2E0-6F01C2649578}"/>
              </a:ext>
            </a:extLst>
          </p:cNvPr>
          <p:cNvSpPr/>
          <p:nvPr/>
        </p:nvSpPr>
        <p:spPr>
          <a:xfrm>
            <a:off x="1028700" y="8135576"/>
            <a:ext cx="4102978" cy="3133183"/>
          </a:xfrm>
          <a:custGeom>
            <a:avLst/>
            <a:gdLst/>
            <a:ahLst/>
            <a:cxnLst/>
            <a:rect l="l" t="t" r="r" b="b"/>
            <a:pathLst>
              <a:path w="4102978" h="3133183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9BBACF4-ED99-2DDC-D05E-1C24A026996B}"/>
              </a:ext>
            </a:extLst>
          </p:cNvPr>
          <p:cNvGrpSpPr/>
          <p:nvPr/>
        </p:nvGrpSpPr>
        <p:grpSpPr>
          <a:xfrm>
            <a:off x="13543121" y="-308824"/>
            <a:ext cx="7549097" cy="8444400"/>
            <a:chOff x="0" y="0"/>
            <a:chExt cx="10065462" cy="11259200"/>
          </a:xfrm>
        </p:grpSpPr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07DC40BD-66A1-CFEB-A9B9-6EE5E02D542B}"/>
                </a:ext>
              </a:extLst>
            </p:cNvPr>
            <p:cNvSpPr/>
            <p:nvPr/>
          </p:nvSpPr>
          <p:spPr>
            <a:xfrm flipV="1">
              <a:off x="23020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6180421C-DBED-B9C8-73BE-18DD7FA37192}"/>
                </a:ext>
              </a:extLst>
            </p:cNvPr>
            <p:cNvSpPr/>
            <p:nvPr/>
          </p:nvSpPr>
          <p:spPr>
            <a:xfrm flipV="1">
              <a:off x="554040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AutoShape 13">
              <a:extLst>
                <a:ext uri="{FF2B5EF4-FFF2-40B4-BE49-F238E27FC236}">
                  <a16:creationId xmlns:a16="http://schemas.microsoft.com/office/drawing/2014/main" id="{5FED9AAA-2EF1-F459-3A1F-BCDCD581C4B1}"/>
                </a:ext>
              </a:extLst>
            </p:cNvPr>
            <p:cNvSpPr/>
            <p:nvPr/>
          </p:nvSpPr>
          <p:spPr>
            <a:xfrm flipV="1">
              <a:off x="108506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844A2031-3308-3516-9AE3-63CBF520D691}"/>
                </a:ext>
              </a:extLst>
            </p:cNvPr>
            <p:cNvSpPr/>
            <p:nvPr/>
          </p:nvSpPr>
          <p:spPr>
            <a:xfrm flipV="1">
              <a:off x="161608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AutoShape 15">
              <a:extLst>
                <a:ext uri="{FF2B5EF4-FFF2-40B4-BE49-F238E27FC236}">
                  <a16:creationId xmlns:a16="http://schemas.microsoft.com/office/drawing/2014/main" id="{F8FDCBA1-85A0-524F-7FF3-4BAF34C78591}"/>
                </a:ext>
              </a:extLst>
            </p:cNvPr>
            <p:cNvSpPr/>
            <p:nvPr/>
          </p:nvSpPr>
          <p:spPr>
            <a:xfrm flipV="1">
              <a:off x="214710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AutoShape 16">
              <a:extLst>
                <a:ext uri="{FF2B5EF4-FFF2-40B4-BE49-F238E27FC236}">
                  <a16:creationId xmlns:a16="http://schemas.microsoft.com/office/drawing/2014/main" id="{CC687027-461B-81F4-1E93-6E3418C8A3A9}"/>
                </a:ext>
              </a:extLst>
            </p:cNvPr>
            <p:cNvSpPr/>
            <p:nvPr/>
          </p:nvSpPr>
          <p:spPr>
            <a:xfrm flipV="1">
              <a:off x="267812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B0A8C609-054F-D488-4B60-898A37208A32}"/>
                </a:ext>
              </a:extLst>
            </p:cNvPr>
            <p:cNvSpPr/>
            <p:nvPr/>
          </p:nvSpPr>
          <p:spPr>
            <a:xfrm flipV="1">
              <a:off x="320914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AutoShape 18">
              <a:extLst>
                <a:ext uri="{FF2B5EF4-FFF2-40B4-BE49-F238E27FC236}">
                  <a16:creationId xmlns:a16="http://schemas.microsoft.com/office/drawing/2014/main" id="{070958D1-0B3A-E032-8A39-DAC0BDF0EDFC}"/>
                </a:ext>
              </a:extLst>
            </p:cNvPr>
            <p:cNvSpPr/>
            <p:nvPr/>
          </p:nvSpPr>
          <p:spPr>
            <a:xfrm flipV="1">
              <a:off x="374016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9DCCD854-BE65-08FC-1C47-4DBBD71F5EF9}"/>
                </a:ext>
              </a:extLst>
            </p:cNvPr>
            <p:cNvSpPr/>
            <p:nvPr/>
          </p:nvSpPr>
          <p:spPr>
            <a:xfrm flipV="1">
              <a:off x="427118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AutoShape 20">
              <a:extLst>
                <a:ext uri="{FF2B5EF4-FFF2-40B4-BE49-F238E27FC236}">
                  <a16:creationId xmlns:a16="http://schemas.microsoft.com/office/drawing/2014/main" id="{92D6F08A-AA8B-A7E4-9D4C-9143C6E6BAA9}"/>
                </a:ext>
              </a:extLst>
            </p:cNvPr>
            <p:cNvSpPr/>
            <p:nvPr/>
          </p:nvSpPr>
          <p:spPr>
            <a:xfrm flipV="1">
              <a:off x="480220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8119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01.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03D584DF-D3C2-E00F-5596-03BF4B669DDF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Comparaison entre Vanilla JS et Express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E5AB6-6033-BB30-FBF3-5D82E4DE2ECA}"/>
              </a:ext>
            </a:extLst>
          </p:cNvPr>
          <p:cNvGrpSpPr/>
          <p:nvPr/>
        </p:nvGrpSpPr>
        <p:grpSpPr>
          <a:xfrm>
            <a:off x="1143000" y="2244984"/>
            <a:ext cx="13723644" cy="6153044"/>
            <a:chOff x="754356" y="2561778"/>
            <a:chExt cx="13723644" cy="615304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9204DC-3DD7-C5AE-1814-B14D57CE2373}"/>
                </a:ext>
              </a:extLst>
            </p:cNvPr>
            <p:cNvSpPr txBox="1"/>
            <p:nvPr/>
          </p:nvSpPr>
          <p:spPr>
            <a:xfrm>
              <a:off x="1295400" y="3314700"/>
              <a:ext cx="13182600" cy="1690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Nécessite tout coder à la main :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routage, parsing, gestion des requêtes.</a:t>
              </a:r>
              <a:endParaRPr lang="fr-FR" sz="2400" b="1" dirty="0">
                <a:solidFill>
                  <a:srgbClr val="8A8A8A"/>
                </a:solidFill>
                <a:latin typeface="Avenir" panose="020B0604020202020204" charset="0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Pas de middleware intégré (gestion des headers, le JSON, etc.).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Convient surtout à des petits tests ou des projets très simples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99AF1C-E285-3C5E-7988-F0CBAB9E73EB}"/>
                </a:ext>
              </a:extLst>
            </p:cNvPr>
            <p:cNvSpPr txBox="1"/>
            <p:nvPr/>
          </p:nvSpPr>
          <p:spPr>
            <a:xfrm>
              <a:off x="775138" y="2561778"/>
              <a:ext cx="64633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Vanilla Node.js : 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83732E5-2B27-1D1B-280E-8AD3B185F2C6}"/>
                </a:ext>
              </a:extLst>
            </p:cNvPr>
            <p:cNvSpPr txBox="1"/>
            <p:nvPr/>
          </p:nvSpPr>
          <p:spPr>
            <a:xfrm>
              <a:off x="1295400" y="6469912"/>
              <a:ext cx="12483661" cy="2244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Fournit une structure claire :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routes, middlewares, contrôleurs.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Simplifie les requêtes, les réponses, et la gestion des erreurs.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Dispose d’un large écosystème de packages et de middlewares.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Réduit considérablement le code et améliore la lisibilité.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77C6F4-4087-0F02-8E24-5022FF5E139B}"/>
                </a:ext>
              </a:extLst>
            </p:cNvPr>
            <p:cNvSpPr txBox="1"/>
            <p:nvPr/>
          </p:nvSpPr>
          <p:spPr>
            <a:xfrm>
              <a:off x="754356" y="5543118"/>
              <a:ext cx="660130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Express.js : 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3009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A18D-1551-A522-100F-D5AB3A7FC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F64E1862-B406-829F-CDE3-E17BA2D887A2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5B1B697D-0AC2-A35E-6E93-6CE51737B2F4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02.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C83992C7-A429-072A-9ABB-B3451F4EB53A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Fonctionnement interne de Node.js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80EEA-A862-8FAD-D324-AE855B99A1A0}"/>
              </a:ext>
            </a:extLst>
          </p:cNvPr>
          <p:cNvSpPr txBox="1"/>
          <p:nvPr/>
        </p:nvSpPr>
        <p:spPr>
          <a:xfrm>
            <a:off x="2966809" y="4076700"/>
            <a:ext cx="136397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Il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permet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d’exécuter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du code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asynchrone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sans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bloquer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le fil principal.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Il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gère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une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file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d’attente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d’événements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(I/O, timers, callbacks).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Grâce à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lui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, Node.js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peut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gérer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de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nombreuses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requêtes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simultanées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 </a:t>
            </a:r>
            <a:r>
              <a:rPr lang="en-US" sz="2400" b="1" dirty="0" err="1">
                <a:solidFill>
                  <a:srgbClr val="8A8A8A"/>
                </a:solidFill>
                <a:latin typeface="Avenir" panose="020B0604020202020204" charset="0"/>
              </a:rPr>
              <a:t>efficacement</a:t>
            </a:r>
            <a:r>
              <a:rPr lang="en-US" sz="2400" b="1" dirty="0">
                <a:solidFill>
                  <a:srgbClr val="8A8A8A"/>
                </a:solidFill>
                <a:latin typeface="Avenir" panose="020B0604020202020204" charset="0"/>
              </a:rPr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1FA47-1F27-51F5-A6E6-7CE94D54F87F}"/>
              </a:ext>
            </a:extLst>
          </p:cNvPr>
          <p:cNvSpPr txBox="1"/>
          <p:nvPr/>
        </p:nvSpPr>
        <p:spPr>
          <a:xfrm rot="10800000" flipV="1">
            <a:off x="2389909" y="3512523"/>
            <a:ext cx="53839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8CA9AD"/>
                </a:solidFill>
                <a:latin typeface="Avenir" panose="020B0604020202020204" charset="0"/>
              </a:rPr>
              <a:t>Event Loop:</a:t>
            </a:r>
          </a:p>
        </p:txBody>
      </p:sp>
    </p:spTree>
    <p:extLst>
      <p:ext uri="{BB962C8B-B14F-4D97-AF65-F5344CB8AC3E}">
        <p14:creationId xmlns:p14="http://schemas.microsoft.com/office/powerpoint/2010/main" val="317652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5D8B-14BC-B5C9-5783-329C0897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6E07BBD5-76A1-1230-B472-2FD8FFFA3D7F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5CE744EB-32D2-A96C-FE6D-F0EC223F535A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02.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536397C2-DAE9-CEE4-1F6B-F736B74C1F41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Fonctionnement interne de Node.js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ACCA06-C160-4A7F-C41C-B0E36F784A81}"/>
              </a:ext>
            </a:extLst>
          </p:cNvPr>
          <p:cNvSpPr txBox="1"/>
          <p:nvPr/>
        </p:nvSpPr>
        <p:spPr>
          <a:xfrm>
            <a:off x="2966809" y="4076700"/>
            <a:ext cx="136397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Node.js utilise le système de modules pour organiser le code.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Chaque fichier peut exporter et importer des fonctions ou objets (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module.exports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, 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require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Encourage la modularité et la réutilisation du code.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2360F-5730-4845-A38E-931023156D9C}"/>
              </a:ext>
            </a:extLst>
          </p:cNvPr>
          <p:cNvSpPr txBox="1"/>
          <p:nvPr/>
        </p:nvSpPr>
        <p:spPr>
          <a:xfrm rot="10800000" flipV="1">
            <a:off x="2389909" y="3512523"/>
            <a:ext cx="53839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8CA9AD"/>
                </a:solidFill>
                <a:latin typeface="Avenir" panose="020B0604020202020204" charset="0"/>
              </a:rPr>
              <a:t>Modules :</a:t>
            </a:r>
          </a:p>
        </p:txBody>
      </p:sp>
    </p:spTree>
    <p:extLst>
      <p:ext uri="{BB962C8B-B14F-4D97-AF65-F5344CB8AC3E}">
        <p14:creationId xmlns:p14="http://schemas.microsoft.com/office/powerpoint/2010/main" val="243840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66D2B-DCF0-1CBE-5896-8ADE91B96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0A433725-A204-1853-AEE2-55C3FA2DF888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30723E1A-A335-8344-626F-63985F6F8131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02.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36EEC00C-4633-3ED4-AE1B-9053C3AD599C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Fonctionnement interne de Node.js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916B4-7614-69E5-4E15-9EFA4CB64EBE}"/>
              </a:ext>
            </a:extLst>
          </p:cNvPr>
          <p:cNvSpPr txBox="1"/>
          <p:nvPr/>
        </p:nvSpPr>
        <p:spPr>
          <a:xfrm>
            <a:off x="2966809" y="4076700"/>
            <a:ext cx="1363979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Un mécanisme de communication interne dans Node.js.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Un objet peut émettre un événement, et d’autres peuvent écouter et réagir.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Très utilisé par les modules natifs (HTTP, FS, etc.).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Sert à gérer des événements asynchrones.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41B44-9CD1-6178-1AB7-EB4078312B56}"/>
              </a:ext>
            </a:extLst>
          </p:cNvPr>
          <p:cNvSpPr txBox="1"/>
          <p:nvPr/>
        </p:nvSpPr>
        <p:spPr>
          <a:xfrm rot="10800000" flipV="1">
            <a:off x="2389909" y="3512523"/>
            <a:ext cx="53839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8CA9AD"/>
                </a:solidFill>
                <a:latin typeface="Avenir" panose="020B0604020202020204" charset="0"/>
              </a:rPr>
              <a:t>EventEmitters :</a:t>
            </a:r>
          </a:p>
        </p:txBody>
      </p:sp>
    </p:spTree>
    <p:extLst>
      <p:ext uri="{BB962C8B-B14F-4D97-AF65-F5344CB8AC3E}">
        <p14:creationId xmlns:p14="http://schemas.microsoft.com/office/powerpoint/2010/main" val="3529188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E1EEB-D09E-0912-7847-F2D50ABF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7618EB40-2278-4C1D-F4DE-2642B7FF2166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E1580A4F-90B5-2B15-FC2C-868B44436446}"/>
              </a:ext>
            </a:extLst>
          </p:cNvPr>
          <p:cNvSpPr txBox="1"/>
          <p:nvPr/>
        </p:nvSpPr>
        <p:spPr>
          <a:xfrm>
            <a:off x="1025237" y="342023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03.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A24C7F0C-2E90-1B78-ABA5-1927E52DC9E1}"/>
              </a:ext>
            </a:extLst>
          </p:cNvPr>
          <p:cNvSpPr txBox="1"/>
          <p:nvPr/>
        </p:nvSpPr>
        <p:spPr>
          <a:xfrm>
            <a:off x="2420674" y="768493"/>
            <a:ext cx="16262181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Différences clés entre un serveur HTTP  et Express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AF09D6-CFCF-C21C-455D-322C177D7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036085"/>
              </p:ext>
            </p:extLst>
          </p:nvPr>
        </p:nvGraphicFramePr>
        <p:xfrm>
          <a:off x="1025237" y="2562962"/>
          <a:ext cx="15963900" cy="5620164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22963">
                  <a:extLst>
                    <a:ext uri="{9D8B030D-6E8A-4147-A177-3AD203B41FA5}">
                      <a16:colId xmlns:a16="http://schemas.microsoft.com/office/drawing/2014/main" val="4082145445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672424433"/>
                    </a:ext>
                  </a:extLst>
                </a:gridCol>
                <a:gridCol w="6778337">
                  <a:extLst>
                    <a:ext uri="{9D8B030D-6E8A-4147-A177-3AD203B41FA5}">
                      <a16:colId xmlns:a16="http://schemas.microsoft.com/office/drawing/2014/main" val="3342612155"/>
                    </a:ext>
                  </a:extLst>
                </a:gridCol>
              </a:tblGrid>
              <a:tr h="5300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dirty="0"/>
                    </a:p>
                  </a:txBody>
                  <a:tcPr marL="71841" marR="71841" marT="35920" marB="359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rgbClr val="8CA9AD"/>
                          </a:solidFill>
                        </a:rPr>
                        <a:t>Serveur HTTP </a:t>
                      </a:r>
                      <a:endParaRPr lang="en-US" sz="2800" dirty="0">
                        <a:solidFill>
                          <a:srgbClr val="8CA9AD"/>
                        </a:solidFill>
                      </a:endParaRP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rgbClr val="8CA9AD"/>
                          </a:solidFill>
                        </a:rPr>
                        <a:t>Express.js</a:t>
                      </a:r>
                      <a:endParaRPr lang="en-US" sz="2800" dirty="0">
                        <a:solidFill>
                          <a:srgbClr val="8CA9AD"/>
                        </a:solidFill>
                      </a:endParaRP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75755"/>
                  </a:ext>
                </a:extLst>
              </a:tr>
              <a:tr h="1112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rgbClr val="8CA9AD"/>
                          </a:solidFill>
                        </a:rPr>
                        <a:t>Création du serveur</a:t>
                      </a:r>
                      <a:endParaRPr lang="en-US" sz="2800" dirty="0">
                        <a:solidFill>
                          <a:srgbClr val="8CA9AD"/>
                        </a:solidFill>
                      </a:endParaRP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Avec http.createServer()</a:t>
                      </a: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Avec express()</a:t>
                      </a: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686060"/>
                  </a:ext>
                </a:extLst>
              </a:tr>
              <a:tr h="778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rgbClr val="8CA9AD"/>
                          </a:solidFill>
                        </a:rPr>
                        <a:t>Routage</a:t>
                      </a:r>
                      <a:endParaRPr lang="en-US" sz="2800" dirty="0">
                        <a:solidFill>
                          <a:srgbClr val="8CA9AD"/>
                        </a:solidFill>
                      </a:endParaRP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Manuel (if/else selon req.url)</a:t>
                      </a: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Intégré (app.get(), app.post(), etc.)</a:t>
                      </a: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699597"/>
                  </a:ext>
                </a:extLst>
              </a:tr>
              <a:tr h="778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rgbClr val="8CA9AD"/>
                          </a:solidFill>
                        </a:rPr>
                        <a:t>Parsing du body</a:t>
                      </a:r>
                      <a:endParaRPr lang="en-US" sz="2800" dirty="0">
                        <a:solidFill>
                          <a:srgbClr val="8CA9AD"/>
                        </a:solidFill>
                      </a:endParaRP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Manuel (data event, JSON.parse)</a:t>
                      </a: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Automatique via express.json()</a:t>
                      </a: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00186"/>
                  </a:ext>
                </a:extLst>
              </a:tr>
              <a:tr h="778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kern="1200" dirty="0">
                          <a:solidFill>
                            <a:srgbClr val="8CA9AD"/>
                          </a:solidFill>
                        </a:rPr>
                        <a:t>Middlewares</a:t>
                      </a:r>
                      <a:endParaRPr lang="en-US" sz="2800" b="1" kern="1200" dirty="0">
                        <a:solidFill>
                          <a:srgbClr val="8CA9A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À coder manuellement</a:t>
                      </a: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Intégrés et modulaires</a:t>
                      </a: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935687"/>
                  </a:ext>
                </a:extLst>
              </a:tr>
              <a:tr h="1112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kern="1200" dirty="0">
                          <a:solidFill>
                            <a:srgbClr val="8CA9AD"/>
                          </a:solidFill>
                        </a:rPr>
                        <a:t>Gestion des erreurs</a:t>
                      </a:r>
                      <a:endParaRPr lang="en-US" sz="2800" b="1" kern="1200" dirty="0">
                        <a:solidFill>
                          <a:srgbClr val="8CA9A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Manuelle</a:t>
                      </a: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Middleware dédié (app.use((err, req, res, next) =&gt; {}))</a:t>
                      </a: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781032"/>
                  </a:ext>
                </a:extLst>
              </a:tr>
              <a:tr h="530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kern="1200" dirty="0">
                          <a:solidFill>
                            <a:srgbClr val="8CA9AD"/>
                          </a:solidFill>
                        </a:rPr>
                        <a:t>Lisibilité du code</a:t>
                      </a:r>
                      <a:endParaRPr lang="en-US" sz="2800" b="1" kern="1200" dirty="0">
                        <a:solidFill>
                          <a:srgbClr val="8CA9A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Lourde et verbeuse</a:t>
                      </a: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Claire, concise et organisée</a:t>
                      </a:r>
                    </a:p>
                  </a:txBody>
                  <a:tcPr marL="71841" marR="71841" marT="35920" marB="359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41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274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3A8E5-4196-45B0-706F-ED7095035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54762C-A2E1-7304-BD49-D088D20A59F5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5B1F42-2D9C-FC58-17DD-F6687FE82B3A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43E0F41-3EB3-D8CF-6885-A34524CCD685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287EF4B2-1AB8-5E88-E37D-05B1240DC42D}"/>
              </a:ext>
            </a:extLst>
          </p:cNvPr>
          <p:cNvSpPr txBox="1"/>
          <p:nvPr/>
        </p:nvSpPr>
        <p:spPr>
          <a:xfrm>
            <a:off x="2067828" y="4035504"/>
            <a:ext cx="131064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7200" b="1" noProof="0" dirty="0">
                <a:solidFill>
                  <a:schemeClr val="bg1"/>
                </a:solidFill>
                <a:latin typeface="Avenir Bold"/>
                <a:ea typeface="Avenir Bold"/>
                <a:cs typeface="Avenir Bold"/>
                <a:sym typeface="Avenir Bold"/>
              </a:rPr>
              <a:t>STRUCTURE ET ARCHITECTURE DU PROJET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55A3B32-952F-2E68-5990-27418BF3C926}"/>
              </a:ext>
            </a:extLst>
          </p:cNvPr>
          <p:cNvSpPr txBox="1"/>
          <p:nvPr/>
        </p:nvSpPr>
        <p:spPr>
          <a:xfrm>
            <a:off x="1790700" y="1714500"/>
            <a:ext cx="1938412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fr-FR" sz="7000" b="1" noProof="0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03.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10657BE-697B-0B6F-78E1-4D28DBA033AE}"/>
              </a:ext>
            </a:extLst>
          </p:cNvPr>
          <p:cNvSpPr/>
          <p:nvPr/>
        </p:nvSpPr>
        <p:spPr>
          <a:xfrm>
            <a:off x="5893678" y="8135576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37F3509-923D-1202-82D6-D6DFA9F8461D}"/>
              </a:ext>
            </a:extLst>
          </p:cNvPr>
          <p:cNvSpPr/>
          <p:nvPr/>
        </p:nvSpPr>
        <p:spPr>
          <a:xfrm>
            <a:off x="1028700" y="8135576"/>
            <a:ext cx="4102978" cy="3133183"/>
          </a:xfrm>
          <a:custGeom>
            <a:avLst/>
            <a:gdLst/>
            <a:ahLst/>
            <a:cxnLst/>
            <a:rect l="l" t="t" r="r" b="b"/>
            <a:pathLst>
              <a:path w="4102978" h="3133183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9D7E29F-FAD6-B833-71A4-B204535923B6}"/>
              </a:ext>
            </a:extLst>
          </p:cNvPr>
          <p:cNvGrpSpPr/>
          <p:nvPr/>
        </p:nvGrpSpPr>
        <p:grpSpPr>
          <a:xfrm>
            <a:off x="13543121" y="-308824"/>
            <a:ext cx="7549097" cy="8444400"/>
            <a:chOff x="0" y="0"/>
            <a:chExt cx="10065462" cy="11259200"/>
          </a:xfrm>
        </p:grpSpPr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CC8EA425-2537-408C-0529-8D2B764AC42D}"/>
                </a:ext>
              </a:extLst>
            </p:cNvPr>
            <p:cNvSpPr/>
            <p:nvPr/>
          </p:nvSpPr>
          <p:spPr>
            <a:xfrm flipV="1">
              <a:off x="23020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A4B9CD9C-12F1-F3F3-A2BE-7B73DEF87B49}"/>
                </a:ext>
              </a:extLst>
            </p:cNvPr>
            <p:cNvSpPr/>
            <p:nvPr/>
          </p:nvSpPr>
          <p:spPr>
            <a:xfrm flipV="1">
              <a:off x="554040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AutoShape 13">
              <a:extLst>
                <a:ext uri="{FF2B5EF4-FFF2-40B4-BE49-F238E27FC236}">
                  <a16:creationId xmlns:a16="http://schemas.microsoft.com/office/drawing/2014/main" id="{39D204BD-F362-75F9-A211-75E37239CB7B}"/>
                </a:ext>
              </a:extLst>
            </p:cNvPr>
            <p:cNvSpPr/>
            <p:nvPr/>
          </p:nvSpPr>
          <p:spPr>
            <a:xfrm flipV="1">
              <a:off x="108506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07A9B432-9EFD-C7A5-A2DC-A7CCDEDBD7D8}"/>
                </a:ext>
              </a:extLst>
            </p:cNvPr>
            <p:cNvSpPr/>
            <p:nvPr/>
          </p:nvSpPr>
          <p:spPr>
            <a:xfrm flipV="1">
              <a:off x="161608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AutoShape 15">
              <a:extLst>
                <a:ext uri="{FF2B5EF4-FFF2-40B4-BE49-F238E27FC236}">
                  <a16:creationId xmlns:a16="http://schemas.microsoft.com/office/drawing/2014/main" id="{A4206554-C15E-3C37-F7BC-52D31DF3A473}"/>
                </a:ext>
              </a:extLst>
            </p:cNvPr>
            <p:cNvSpPr/>
            <p:nvPr/>
          </p:nvSpPr>
          <p:spPr>
            <a:xfrm flipV="1">
              <a:off x="214710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AutoShape 16">
              <a:extLst>
                <a:ext uri="{FF2B5EF4-FFF2-40B4-BE49-F238E27FC236}">
                  <a16:creationId xmlns:a16="http://schemas.microsoft.com/office/drawing/2014/main" id="{19A48B8F-948F-FB08-B9A5-F257479ACAF1}"/>
                </a:ext>
              </a:extLst>
            </p:cNvPr>
            <p:cNvSpPr/>
            <p:nvPr/>
          </p:nvSpPr>
          <p:spPr>
            <a:xfrm flipV="1">
              <a:off x="267812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5A7C697A-901A-EBA2-BE29-7A1CD3179BBC}"/>
                </a:ext>
              </a:extLst>
            </p:cNvPr>
            <p:cNvSpPr/>
            <p:nvPr/>
          </p:nvSpPr>
          <p:spPr>
            <a:xfrm flipV="1">
              <a:off x="320914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AutoShape 18">
              <a:extLst>
                <a:ext uri="{FF2B5EF4-FFF2-40B4-BE49-F238E27FC236}">
                  <a16:creationId xmlns:a16="http://schemas.microsoft.com/office/drawing/2014/main" id="{EA1E9051-B9B6-FB37-532F-717E4F061B02}"/>
                </a:ext>
              </a:extLst>
            </p:cNvPr>
            <p:cNvSpPr/>
            <p:nvPr/>
          </p:nvSpPr>
          <p:spPr>
            <a:xfrm flipV="1">
              <a:off x="374016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E2AB2479-1B05-F5F5-39E4-F1186FC6EBC2}"/>
                </a:ext>
              </a:extLst>
            </p:cNvPr>
            <p:cNvSpPr/>
            <p:nvPr/>
          </p:nvSpPr>
          <p:spPr>
            <a:xfrm flipV="1">
              <a:off x="427118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AutoShape 20">
              <a:extLst>
                <a:ext uri="{FF2B5EF4-FFF2-40B4-BE49-F238E27FC236}">
                  <a16:creationId xmlns:a16="http://schemas.microsoft.com/office/drawing/2014/main" id="{4A8A8E5D-DE5E-2E45-1A4B-112B655C42BB}"/>
                </a:ext>
              </a:extLst>
            </p:cNvPr>
            <p:cNvSpPr/>
            <p:nvPr/>
          </p:nvSpPr>
          <p:spPr>
            <a:xfrm flipV="1">
              <a:off x="480220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92985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01.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03D584DF-D3C2-E00F-5596-03BF4B669DDF}"/>
              </a:ext>
            </a:extLst>
          </p:cNvPr>
          <p:cNvSpPr txBox="1"/>
          <p:nvPr/>
        </p:nvSpPr>
        <p:spPr>
          <a:xfrm>
            <a:off x="3657600" y="313372"/>
            <a:ext cx="13639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Organisation du projet : routes, contrôleurs, services, middlewares, serveur.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82DBC3-12F9-43A0-A8CF-F302B173BF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983" y="3119581"/>
            <a:ext cx="14578034" cy="392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2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01.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E5AB6-6033-BB30-FBF3-5D82E4DE2ECA}"/>
              </a:ext>
            </a:extLst>
          </p:cNvPr>
          <p:cNvGrpSpPr/>
          <p:nvPr/>
        </p:nvGrpSpPr>
        <p:grpSpPr>
          <a:xfrm>
            <a:off x="1163782" y="2244984"/>
            <a:ext cx="13702862" cy="6321819"/>
            <a:chOff x="775138" y="2561778"/>
            <a:chExt cx="13702862" cy="632181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9204DC-3DD7-C5AE-1814-B14D57CE2373}"/>
                </a:ext>
              </a:extLst>
            </p:cNvPr>
            <p:cNvSpPr txBox="1"/>
            <p:nvPr/>
          </p:nvSpPr>
          <p:spPr>
            <a:xfrm>
              <a:off x="1295400" y="3314700"/>
              <a:ext cx="13182600" cy="5568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Serveur (server.js) : 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Point d'entrée de l'application. 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Importe l'application depuis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src/,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configure le port et lance l'écoute des requêtes.    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Routes (src/routes/) : 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Définissent les </a:t>
              </a:r>
              <a:r>
                <a:rPr lang="fr-FR" sz="2400" dirty="0" err="1">
                  <a:solidFill>
                    <a:srgbClr val="8A8A8A"/>
                  </a:solidFill>
                  <a:latin typeface="Avenir" panose="020B0604020202020204" charset="0"/>
                </a:rPr>
                <a:t>endpoints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API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et associent les chemins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URL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aux contrôleurs correspondants.    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Contrôleurs (src/</a:t>
              </a: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controllers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/) : 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Reçoivent la requête et la réponse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. 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Valident les données d'entrée, appellent les services appropriés et gèrent les réponses au client.   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99AF1C-E285-3C5E-7988-F0CBAB9E73EB}"/>
                </a:ext>
              </a:extLst>
            </p:cNvPr>
            <p:cNvSpPr txBox="1"/>
            <p:nvPr/>
          </p:nvSpPr>
          <p:spPr>
            <a:xfrm>
              <a:off x="775138" y="2561778"/>
              <a:ext cx="64633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Rôle de chaque composant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</p:grpSp>
      <p:sp>
        <p:nvSpPr>
          <p:cNvPr id="10" name="TextBox 6">
            <a:extLst>
              <a:ext uri="{FF2B5EF4-FFF2-40B4-BE49-F238E27FC236}">
                <a16:creationId xmlns:a16="http://schemas.microsoft.com/office/drawing/2014/main" id="{36BFB538-77BB-48A7-9451-B2C972E876D6}"/>
              </a:ext>
            </a:extLst>
          </p:cNvPr>
          <p:cNvSpPr txBox="1"/>
          <p:nvPr/>
        </p:nvSpPr>
        <p:spPr>
          <a:xfrm>
            <a:off x="3657600" y="313372"/>
            <a:ext cx="13639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Organisation du projet : routes, contrôleurs, services, middlewares, serveur.</a:t>
            </a:r>
          </a:p>
        </p:txBody>
      </p:sp>
    </p:spTree>
    <p:extLst>
      <p:ext uri="{BB962C8B-B14F-4D97-AF65-F5344CB8AC3E}">
        <p14:creationId xmlns:p14="http://schemas.microsoft.com/office/powerpoint/2010/main" val="1200105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01.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E5AB6-6033-BB30-FBF3-5D82E4DE2ECA}"/>
              </a:ext>
            </a:extLst>
          </p:cNvPr>
          <p:cNvGrpSpPr/>
          <p:nvPr/>
        </p:nvGrpSpPr>
        <p:grpSpPr>
          <a:xfrm>
            <a:off x="1163782" y="2244984"/>
            <a:ext cx="13702862" cy="4105828"/>
            <a:chOff x="775138" y="2561778"/>
            <a:chExt cx="13702862" cy="410582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9204DC-3DD7-C5AE-1814-B14D57CE2373}"/>
                </a:ext>
              </a:extLst>
            </p:cNvPr>
            <p:cNvSpPr txBox="1"/>
            <p:nvPr/>
          </p:nvSpPr>
          <p:spPr>
            <a:xfrm>
              <a:off x="1295400" y="3314700"/>
              <a:ext cx="13182600" cy="3352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Services (src/services/) : 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Contiennent la logique métier principale de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Smart-Inventory. 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Gèrent les opérations complexes, les calculs et l'accès aux données.    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Middlewares (src/middlewares/) : 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Fonctions intermédiaires qui interceptent et traitent les requêtes avant les contrôleurs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(authentification, validation, </a:t>
              </a: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logging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, etc.).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99AF1C-E285-3C5E-7988-F0CBAB9E73EB}"/>
                </a:ext>
              </a:extLst>
            </p:cNvPr>
            <p:cNvSpPr txBox="1"/>
            <p:nvPr/>
          </p:nvSpPr>
          <p:spPr>
            <a:xfrm>
              <a:off x="775138" y="2561778"/>
              <a:ext cx="64633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Rôle de chaque composant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</p:grpSp>
      <p:sp>
        <p:nvSpPr>
          <p:cNvPr id="8" name="TextBox 6">
            <a:extLst>
              <a:ext uri="{FF2B5EF4-FFF2-40B4-BE49-F238E27FC236}">
                <a16:creationId xmlns:a16="http://schemas.microsoft.com/office/drawing/2014/main" id="{89EBC9BD-8170-45B3-AF97-2D8343EF4E70}"/>
              </a:ext>
            </a:extLst>
          </p:cNvPr>
          <p:cNvSpPr txBox="1"/>
          <p:nvPr/>
        </p:nvSpPr>
        <p:spPr>
          <a:xfrm>
            <a:off x="3657600" y="313372"/>
            <a:ext cx="13639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Organisation du projet : routes, contrôleurs, services, middlewares, serveur.</a:t>
            </a:r>
          </a:p>
        </p:txBody>
      </p:sp>
    </p:spTree>
    <p:extLst>
      <p:ext uri="{BB962C8B-B14F-4D97-AF65-F5344CB8AC3E}">
        <p14:creationId xmlns:p14="http://schemas.microsoft.com/office/powerpoint/2010/main" val="3157042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02.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E5AB6-6033-BB30-FBF3-5D82E4DE2ECA}"/>
              </a:ext>
            </a:extLst>
          </p:cNvPr>
          <p:cNvGrpSpPr/>
          <p:nvPr/>
        </p:nvGrpSpPr>
        <p:grpSpPr>
          <a:xfrm>
            <a:off x="1163782" y="2244984"/>
            <a:ext cx="13702862" cy="4270116"/>
            <a:chOff x="775138" y="2561778"/>
            <a:chExt cx="13702862" cy="42701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9204DC-3DD7-C5AE-1814-B14D57CE2373}"/>
                </a:ext>
              </a:extLst>
            </p:cNvPr>
            <p:cNvSpPr txBox="1"/>
            <p:nvPr/>
          </p:nvSpPr>
          <p:spPr>
            <a:xfrm>
              <a:off x="1295400" y="3314700"/>
              <a:ext cx="13182600" cy="582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Initialisation du projet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99AF1C-E285-3C5E-7988-F0CBAB9E73EB}"/>
                </a:ext>
              </a:extLst>
            </p:cNvPr>
            <p:cNvSpPr txBox="1"/>
            <p:nvPr/>
          </p:nvSpPr>
          <p:spPr>
            <a:xfrm>
              <a:off x="775138" y="2561778"/>
              <a:ext cx="64633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Création et Installation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8992F9-096D-4F98-AA13-447EB5C9C3B5}"/>
                </a:ext>
              </a:extLst>
            </p:cNvPr>
            <p:cNvSpPr txBox="1"/>
            <p:nvPr/>
          </p:nvSpPr>
          <p:spPr>
            <a:xfrm>
              <a:off x="1135356" y="6248978"/>
              <a:ext cx="13182600" cy="582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Initialisation du projet</a:t>
              </a:r>
            </a:p>
          </p:txBody>
        </p:sp>
      </p:grpSp>
      <p:sp>
        <p:nvSpPr>
          <p:cNvPr id="8" name="TextBox 6">
            <a:extLst>
              <a:ext uri="{FF2B5EF4-FFF2-40B4-BE49-F238E27FC236}">
                <a16:creationId xmlns:a16="http://schemas.microsoft.com/office/drawing/2014/main" id="{89EBC9BD-8170-45B3-AF97-2D8343EF4E70}"/>
              </a:ext>
            </a:extLst>
          </p:cNvPr>
          <p:cNvSpPr txBox="1"/>
          <p:nvPr/>
        </p:nvSpPr>
        <p:spPr>
          <a:xfrm>
            <a:off x="3657600" y="313372"/>
            <a:ext cx="13639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Création et installation via </a:t>
            </a:r>
            <a:r>
              <a:rPr lang="fr-FR" sz="4800" b="1" noProof="0" dirty="0" err="1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npm</a:t>
            </a: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, gestion des dépendances et scripts.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002829-EBE5-4564-B266-55FBE2E73C8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4"/>
          <a:stretch/>
        </p:blipFill>
        <p:spPr>
          <a:xfrm>
            <a:off x="1854983" y="3759906"/>
            <a:ext cx="14578034" cy="19931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D1FD30-D047-4CE2-9A2F-3BEB5C06615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5"/>
          <a:stretch/>
        </p:blipFill>
        <p:spPr>
          <a:xfrm>
            <a:off x="1854984" y="6694184"/>
            <a:ext cx="14578033" cy="11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79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03.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E5AB6-6033-BB30-FBF3-5D82E4DE2ECA}"/>
              </a:ext>
            </a:extLst>
          </p:cNvPr>
          <p:cNvGrpSpPr/>
          <p:nvPr/>
        </p:nvGrpSpPr>
        <p:grpSpPr>
          <a:xfrm>
            <a:off x="1447800" y="2813587"/>
            <a:ext cx="13702862" cy="4659825"/>
            <a:chOff x="775138" y="2561778"/>
            <a:chExt cx="13702862" cy="465982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9204DC-3DD7-C5AE-1814-B14D57CE2373}"/>
                </a:ext>
              </a:extLst>
            </p:cNvPr>
            <p:cNvSpPr txBox="1"/>
            <p:nvPr/>
          </p:nvSpPr>
          <p:spPr>
            <a:xfrm>
              <a:off x="1295400" y="3314700"/>
              <a:ext cx="13182600" cy="39069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Requête HTTP :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Le client envoie une requête vers le serveur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Smart-Inventory.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Point d'entrée :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La requête arrive dans server.js qui dirige vers les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 middlewares.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Parcours des middlewares :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La requête traverse la pile de middlewares dans l'ordre défini  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Routage :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La route correspondante est trouvée dans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src/routes/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Contrôleur :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Le contrôleur dans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src/</a:t>
              </a: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controllers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/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est exécuté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Service :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Le contrôleur appelle la logique métier dans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src/services/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Réponse HTTP :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Envoi de la réponse finale au client.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99AF1C-E285-3C5E-7988-F0CBAB9E73EB}"/>
                </a:ext>
              </a:extLst>
            </p:cNvPr>
            <p:cNvSpPr txBox="1"/>
            <p:nvPr/>
          </p:nvSpPr>
          <p:spPr>
            <a:xfrm>
              <a:off x="775138" y="2561778"/>
              <a:ext cx="64633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Cycle Requête/Réponse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</p:grpSp>
      <p:sp>
        <p:nvSpPr>
          <p:cNvPr id="8" name="TextBox 6">
            <a:extLst>
              <a:ext uri="{FF2B5EF4-FFF2-40B4-BE49-F238E27FC236}">
                <a16:creationId xmlns:a16="http://schemas.microsoft.com/office/drawing/2014/main" id="{89EBC9BD-8170-45B3-AF97-2D8343EF4E70}"/>
              </a:ext>
            </a:extLst>
          </p:cNvPr>
          <p:cNvSpPr txBox="1"/>
          <p:nvPr/>
        </p:nvSpPr>
        <p:spPr>
          <a:xfrm>
            <a:off x="3657600" y="313372"/>
            <a:ext cx="13639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Explication du cycle de requête/réponse et du rôle des middlewares.</a:t>
            </a:r>
          </a:p>
        </p:txBody>
      </p:sp>
    </p:spTree>
    <p:extLst>
      <p:ext uri="{BB962C8B-B14F-4D97-AF65-F5344CB8AC3E}">
        <p14:creationId xmlns:p14="http://schemas.microsoft.com/office/powerpoint/2010/main" val="2283518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03.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E5AB6-6033-BB30-FBF3-5D82E4DE2ECA}"/>
              </a:ext>
            </a:extLst>
          </p:cNvPr>
          <p:cNvGrpSpPr/>
          <p:nvPr/>
        </p:nvGrpSpPr>
        <p:grpSpPr>
          <a:xfrm>
            <a:off x="2292569" y="3090586"/>
            <a:ext cx="13702862" cy="4105828"/>
            <a:chOff x="775138" y="2561778"/>
            <a:chExt cx="13702862" cy="410582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9204DC-3DD7-C5AE-1814-B14D57CE2373}"/>
                </a:ext>
              </a:extLst>
            </p:cNvPr>
            <p:cNvSpPr txBox="1"/>
            <p:nvPr/>
          </p:nvSpPr>
          <p:spPr>
            <a:xfrm>
              <a:off x="1295400" y="3314700"/>
              <a:ext cx="13182600" cy="3352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Les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middlewares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 sont des fonctions qui interceptent les requêtes entre le serveur et les contrôleurs :    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Modifier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 </a:t>
              </a:r>
              <a:r>
                <a:rPr lang="fr-FR" sz="2400" dirty="0" err="1">
                  <a:solidFill>
                    <a:srgbClr val="8A8A8A"/>
                  </a:solidFill>
                  <a:latin typeface="Avenir" panose="020B0604020202020204" charset="0"/>
                </a:rPr>
                <a:t>req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 et </a:t>
              </a:r>
              <a:r>
                <a:rPr lang="fr-FR" sz="2400" dirty="0" err="1">
                  <a:solidFill>
                    <a:srgbClr val="8A8A8A"/>
                  </a:solidFill>
                  <a:latin typeface="Avenir" panose="020B0604020202020204" charset="0"/>
                </a:rPr>
                <a:t>res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 (ajouter des données, </a:t>
              </a:r>
              <a:r>
                <a:rPr lang="fr-FR" sz="2400" dirty="0" err="1">
                  <a:solidFill>
                    <a:srgbClr val="8A8A8A"/>
                  </a:solidFill>
                  <a:latin typeface="Avenir" panose="020B0604020202020204" charset="0"/>
                </a:rPr>
                <a:t>parser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 le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JSON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)    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Exécuter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 du code (</a:t>
              </a:r>
              <a:r>
                <a:rPr lang="fr-FR" sz="2400" dirty="0" err="1">
                  <a:solidFill>
                    <a:srgbClr val="8A8A8A"/>
                  </a:solidFill>
                  <a:latin typeface="Avenir" panose="020B0604020202020204" charset="0"/>
                </a:rPr>
                <a:t>logging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, métriques de performance)    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Arrêter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 le cycle (authentification échouée, validation d'erreur)    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Passer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 au middleware suivant avec </a:t>
              </a: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next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()</a:t>
              </a:r>
              <a:endParaRPr lang="fr-FR" sz="2400" dirty="0">
                <a:solidFill>
                  <a:srgbClr val="8A8A8A"/>
                </a:solidFill>
                <a:latin typeface="Avenir" panose="020B060402020202020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99AF1C-E285-3C5E-7988-F0CBAB9E73EB}"/>
                </a:ext>
              </a:extLst>
            </p:cNvPr>
            <p:cNvSpPr txBox="1"/>
            <p:nvPr/>
          </p:nvSpPr>
          <p:spPr>
            <a:xfrm>
              <a:off x="775138" y="2561778"/>
              <a:ext cx="64633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Rôle des Middlewares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</p:grpSp>
      <p:sp>
        <p:nvSpPr>
          <p:cNvPr id="8" name="TextBox 6">
            <a:extLst>
              <a:ext uri="{FF2B5EF4-FFF2-40B4-BE49-F238E27FC236}">
                <a16:creationId xmlns:a16="http://schemas.microsoft.com/office/drawing/2014/main" id="{89EBC9BD-8170-45B3-AF97-2D8343EF4E70}"/>
              </a:ext>
            </a:extLst>
          </p:cNvPr>
          <p:cNvSpPr txBox="1"/>
          <p:nvPr/>
        </p:nvSpPr>
        <p:spPr>
          <a:xfrm>
            <a:off x="3657600" y="313372"/>
            <a:ext cx="13639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Explication du cycle de requête/réponse et du rôle des middlewares.</a:t>
            </a:r>
          </a:p>
        </p:txBody>
      </p:sp>
    </p:spTree>
    <p:extLst>
      <p:ext uri="{BB962C8B-B14F-4D97-AF65-F5344CB8AC3E}">
        <p14:creationId xmlns:p14="http://schemas.microsoft.com/office/powerpoint/2010/main" val="1558542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04.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9EBC9BD-8170-45B3-AF97-2D8343EF4E70}"/>
              </a:ext>
            </a:extLst>
          </p:cNvPr>
          <p:cNvSpPr txBox="1"/>
          <p:nvPr/>
        </p:nvSpPr>
        <p:spPr>
          <a:xfrm>
            <a:off x="3657600" y="313372"/>
            <a:ext cx="13639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Présentation d’un exemple complet d’API (CRUD).</a:t>
            </a:r>
          </a:p>
        </p:txBody>
      </p:sp>
    </p:spTree>
    <p:extLst>
      <p:ext uri="{BB962C8B-B14F-4D97-AF65-F5344CB8AC3E}">
        <p14:creationId xmlns:p14="http://schemas.microsoft.com/office/powerpoint/2010/main" val="407288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6D7E6-7C67-DBF7-7B91-4215C637C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3FBF6E-A615-6A8F-E1A8-FEEBE9DF0AF9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F18BA67-F84F-8812-8FEB-61A084654BC6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55121AC-EBDD-C789-9CCF-45C856996685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828AFCF5-996A-C67B-F5E2-875B74973B02}"/>
              </a:ext>
            </a:extLst>
          </p:cNvPr>
          <p:cNvSpPr txBox="1"/>
          <p:nvPr/>
        </p:nvSpPr>
        <p:spPr>
          <a:xfrm>
            <a:off x="2322379" y="4517171"/>
            <a:ext cx="130302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7200" b="1" noProof="0" dirty="0">
                <a:solidFill>
                  <a:schemeClr val="bg1"/>
                </a:solidFill>
                <a:latin typeface="Avenir Bold"/>
                <a:ea typeface="Avenir Bold"/>
                <a:cs typeface="Avenir Bold"/>
                <a:sym typeface="Avenir Bold"/>
              </a:rPr>
              <a:t>PERSISTANCE &amp; SÉCURITÉ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4574BF1-6615-56BC-AEC8-85A86497A6CA}"/>
              </a:ext>
            </a:extLst>
          </p:cNvPr>
          <p:cNvSpPr txBox="1"/>
          <p:nvPr/>
        </p:nvSpPr>
        <p:spPr>
          <a:xfrm>
            <a:off x="1790700" y="1714500"/>
            <a:ext cx="1938412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fr-FR" sz="7000" b="1" noProof="0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04.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023AE1F-859C-61C8-584C-F769B011DB97}"/>
              </a:ext>
            </a:extLst>
          </p:cNvPr>
          <p:cNvSpPr/>
          <p:nvPr/>
        </p:nvSpPr>
        <p:spPr>
          <a:xfrm>
            <a:off x="5893678" y="8135576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4A8FF17-6C72-DA9F-DC48-1568CBD1FCA7}"/>
              </a:ext>
            </a:extLst>
          </p:cNvPr>
          <p:cNvSpPr/>
          <p:nvPr/>
        </p:nvSpPr>
        <p:spPr>
          <a:xfrm>
            <a:off x="1028700" y="8135576"/>
            <a:ext cx="4102978" cy="3133183"/>
          </a:xfrm>
          <a:custGeom>
            <a:avLst/>
            <a:gdLst/>
            <a:ahLst/>
            <a:cxnLst/>
            <a:rect l="l" t="t" r="r" b="b"/>
            <a:pathLst>
              <a:path w="4102978" h="3133183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CECC8DC-8EB6-0320-6ED4-E6F4F0306470}"/>
              </a:ext>
            </a:extLst>
          </p:cNvPr>
          <p:cNvGrpSpPr/>
          <p:nvPr/>
        </p:nvGrpSpPr>
        <p:grpSpPr>
          <a:xfrm>
            <a:off x="13543121" y="-308824"/>
            <a:ext cx="7549097" cy="8444400"/>
            <a:chOff x="0" y="0"/>
            <a:chExt cx="10065462" cy="11259200"/>
          </a:xfrm>
        </p:grpSpPr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F7D9F0B2-B340-D9C5-1C25-69A2269B6EB8}"/>
                </a:ext>
              </a:extLst>
            </p:cNvPr>
            <p:cNvSpPr/>
            <p:nvPr/>
          </p:nvSpPr>
          <p:spPr>
            <a:xfrm flipV="1">
              <a:off x="23020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2B4E5EEB-DB4D-9986-F231-50A063FBE847}"/>
                </a:ext>
              </a:extLst>
            </p:cNvPr>
            <p:cNvSpPr/>
            <p:nvPr/>
          </p:nvSpPr>
          <p:spPr>
            <a:xfrm flipV="1">
              <a:off x="554040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AutoShape 13">
              <a:extLst>
                <a:ext uri="{FF2B5EF4-FFF2-40B4-BE49-F238E27FC236}">
                  <a16:creationId xmlns:a16="http://schemas.microsoft.com/office/drawing/2014/main" id="{1B4F72AA-C32D-4491-CD79-800876C2C0C4}"/>
                </a:ext>
              </a:extLst>
            </p:cNvPr>
            <p:cNvSpPr/>
            <p:nvPr/>
          </p:nvSpPr>
          <p:spPr>
            <a:xfrm flipV="1">
              <a:off x="108506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6AE29ADA-457E-DA50-C735-DDEEB7FFFA86}"/>
                </a:ext>
              </a:extLst>
            </p:cNvPr>
            <p:cNvSpPr/>
            <p:nvPr/>
          </p:nvSpPr>
          <p:spPr>
            <a:xfrm flipV="1">
              <a:off x="161608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AutoShape 15">
              <a:extLst>
                <a:ext uri="{FF2B5EF4-FFF2-40B4-BE49-F238E27FC236}">
                  <a16:creationId xmlns:a16="http://schemas.microsoft.com/office/drawing/2014/main" id="{B51E3714-E883-5E64-1A05-E0BC6EC53070}"/>
                </a:ext>
              </a:extLst>
            </p:cNvPr>
            <p:cNvSpPr/>
            <p:nvPr/>
          </p:nvSpPr>
          <p:spPr>
            <a:xfrm flipV="1">
              <a:off x="214710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AutoShape 16">
              <a:extLst>
                <a:ext uri="{FF2B5EF4-FFF2-40B4-BE49-F238E27FC236}">
                  <a16:creationId xmlns:a16="http://schemas.microsoft.com/office/drawing/2014/main" id="{D618A648-69BC-FF07-B1A9-026F7A09036A}"/>
                </a:ext>
              </a:extLst>
            </p:cNvPr>
            <p:cNvSpPr/>
            <p:nvPr/>
          </p:nvSpPr>
          <p:spPr>
            <a:xfrm flipV="1">
              <a:off x="267812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4E87F105-FD96-7917-2357-53A6943B2878}"/>
                </a:ext>
              </a:extLst>
            </p:cNvPr>
            <p:cNvSpPr/>
            <p:nvPr/>
          </p:nvSpPr>
          <p:spPr>
            <a:xfrm flipV="1">
              <a:off x="320914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AutoShape 18">
              <a:extLst>
                <a:ext uri="{FF2B5EF4-FFF2-40B4-BE49-F238E27FC236}">
                  <a16:creationId xmlns:a16="http://schemas.microsoft.com/office/drawing/2014/main" id="{9AC8A5F4-132F-602F-E2D5-AF63B65EEB26}"/>
                </a:ext>
              </a:extLst>
            </p:cNvPr>
            <p:cNvSpPr/>
            <p:nvPr/>
          </p:nvSpPr>
          <p:spPr>
            <a:xfrm flipV="1">
              <a:off x="374016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DE31F8F7-E037-9526-B205-F1EDAC6E61D0}"/>
                </a:ext>
              </a:extLst>
            </p:cNvPr>
            <p:cNvSpPr/>
            <p:nvPr/>
          </p:nvSpPr>
          <p:spPr>
            <a:xfrm flipV="1">
              <a:off x="427118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AutoShape 20">
              <a:extLst>
                <a:ext uri="{FF2B5EF4-FFF2-40B4-BE49-F238E27FC236}">
                  <a16:creationId xmlns:a16="http://schemas.microsoft.com/office/drawing/2014/main" id="{AD8997DF-6569-AA56-E3AC-8C1602FD4559}"/>
                </a:ext>
              </a:extLst>
            </p:cNvPr>
            <p:cNvSpPr/>
            <p:nvPr/>
          </p:nvSpPr>
          <p:spPr>
            <a:xfrm flipV="1">
              <a:off x="480220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52824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6109E-7A13-861A-17AA-8B36CBF5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16DBAFA2-E7F7-890C-5F04-329936A02B31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6BCE87D4-CE34-EE0A-5AAA-E0747F8FA445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01.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B15DEF2-192B-A91E-BBB4-4129AF397AF2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Mongoose : Schéma, Modèle et Liaison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AE327-1C08-4E1F-6298-03F68F8A1DE3}"/>
              </a:ext>
            </a:extLst>
          </p:cNvPr>
          <p:cNvSpPr txBox="1"/>
          <p:nvPr/>
        </p:nvSpPr>
        <p:spPr>
          <a:xfrm>
            <a:off x="1684044" y="2997906"/>
            <a:ext cx="13182600" cy="113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Description de la structure d’un document dans MongoDB.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Définit les types, validations et règles des champs.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03E68-1A2B-0574-9D08-5BA4AAD78BF7}"/>
              </a:ext>
            </a:extLst>
          </p:cNvPr>
          <p:cNvSpPr txBox="1"/>
          <p:nvPr/>
        </p:nvSpPr>
        <p:spPr>
          <a:xfrm>
            <a:off x="1163782" y="2244984"/>
            <a:ext cx="6463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kern="1200" dirty="0" err="1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Schema</a:t>
            </a:r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 : </a:t>
            </a:r>
            <a:endParaRPr lang="en-US" sz="3600" b="1" dirty="0">
              <a:solidFill>
                <a:srgbClr val="8CA9AD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505F-78E8-2F40-E704-0FD0757586BB}"/>
              </a:ext>
            </a:extLst>
          </p:cNvPr>
          <p:cNvSpPr txBox="1"/>
          <p:nvPr/>
        </p:nvSpPr>
        <p:spPr>
          <a:xfrm>
            <a:off x="1684044" y="5372509"/>
            <a:ext cx="12483661" cy="113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Représentation manipulable du schéma.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Permet d’interagir avec la base (CRUD).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B3F33-5118-6248-B3D1-5231909382EB}"/>
              </a:ext>
            </a:extLst>
          </p:cNvPr>
          <p:cNvSpPr txBox="1"/>
          <p:nvPr/>
        </p:nvSpPr>
        <p:spPr>
          <a:xfrm>
            <a:off x="1163782" y="4569098"/>
            <a:ext cx="6601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8CA9AD"/>
                </a:solidFill>
                <a:latin typeface="Avenir" panose="020B0604020202020204" charset="0"/>
              </a:rPr>
              <a:t>Model</a:t>
            </a:r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 : </a:t>
            </a:r>
            <a:endParaRPr lang="en-US" sz="3600" b="1" dirty="0">
              <a:solidFill>
                <a:srgbClr val="8CA9AD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04219F-82D3-A4DE-4CEB-166013B28766}"/>
              </a:ext>
            </a:extLst>
          </p:cNvPr>
          <p:cNvSpPr txBox="1"/>
          <p:nvPr/>
        </p:nvSpPr>
        <p:spPr>
          <a:xfrm>
            <a:off x="1163782" y="6931721"/>
            <a:ext cx="6601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Liaison : </a:t>
            </a:r>
            <a:endParaRPr lang="en-US" sz="3600" b="1" dirty="0">
              <a:solidFill>
                <a:srgbClr val="8CA9AD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1E2F67-59E2-BE4C-EB60-CD6E011CD74A}"/>
              </a:ext>
            </a:extLst>
          </p:cNvPr>
          <p:cNvSpPr txBox="1"/>
          <p:nvPr/>
        </p:nvSpPr>
        <p:spPr>
          <a:xfrm>
            <a:off x="1684044" y="7747112"/>
            <a:ext cx="12483661" cy="113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Permet de connecter deux collections via des références.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Souvent basé sur l’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ObjectId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5140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6109E-7A13-861A-17AA-8B36CBF5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16DBAFA2-E7F7-890C-5F04-329936A02B31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6BCE87D4-CE34-EE0A-5AAA-E0747F8FA445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02.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B15DEF2-192B-A91E-BBB4-4129AF397AF2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Authentification et Autorisation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AE327-1C08-4E1F-6298-03F68F8A1DE3}"/>
              </a:ext>
            </a:extLst>
          </p:cNvPr>
          <p:cNvSpPr txBox="1"/>
          <p:nvPr/>
        </p:nvSpPr>
        <p:spPr>
          <a:xfrm>
            <a:off x="1684044" y="2997906"/>
            <a:ext cx="13182600" cy="556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Permet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 de vérifier l’identité d’un utilisateur.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Réalisée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via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JWT (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JSON Web </a:t>
            </a:r>
            <a:r>
              <a:rPr lang="fr-FR" sz="2400" dirty="0" err="1">
                <a:solidFill>
                  <a:srgbClr val="8A8A8A"/>
                </a:solidFill>
                <a:latin typeface="Avenir" panose="020B0604020202020204" charset="0"/>
              </a:rPr>
              <a:t>Token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bcrypt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pour hacher les mots de passe.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Vérification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lors du login 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(email + 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password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Exemple workflow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L’utilisateur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se connecte.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Le serveur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vérifie le mot de passe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 (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bcrypt.compare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Le serveur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génère un 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JWT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signé.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L’utilisateur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l’envoie dans l’entête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 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Authorization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: 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Bearer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 &lt;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token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&gt;.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03E68-1A2B-0574-9D08-5BA4AAD78BF7}"/>
              </a:ext>
            </a:extLst>
          </p:cNvPr>
          <p:cNvSpPr txBox="1"/>
          <p:nvPr/>
        </p:nvSpPr>
        <p:spPr>
          <a:xfrm>
            <a:off x="1163782" y="2244984"/>
            <a:ext cx="9885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Authentification (Qui est l’utilisateur ?) : </a:t>
            </a:r>
            <a:endParaRPr lang="en-US" sz="3600" b="1" dirty="0">
              <a:solidFill>
                <a:srgbClr val="8CA9A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092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E6B2-22A4-EC46-23E6-7E787129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7BB9F3CB-949B-BE9C-67DD-B0BAC07FAE8D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A8D335E-DBC9-1C93-176F-A1FE3011754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02.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CBFF203-3428-BC57-6CA2-C36B4D662F88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Authentification et Autorisation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EEE16-E55A-E4A4-63B1-3B9C7BC0BFBF}"/>
              </a:ext>
            </a:extLst>
          </p:cNvPr>
          <p:cNvSpPr txBox="1"/>
          <p:nvPr/>
        </p:nvSpPr>
        <p:spPr>
          <a:xfrm>
            <a:off x="1684044" y="2997906"/>
            <a:ext cx="13182600" cy="242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Vérifie les permissions après l’authentification. </a:t>
            </a:r>
          </a:p>
          <a:p>
            <a:endParaRPr lang="fr-FR" sz="2400" dirty="0">
              <a:solidFill>
                <a:srgbClr val="8A8A8A"/>
              </a:solidFill>
              <a:latin typeface="Avenir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Exemple 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Rôle “admin” vs rôle “user”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Accès limité à certaines routes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55C8-6F3C-DA45-38EE-3BBB09196906}"/>
              </a:ext>
            </a:extLst>
          </p:cNvPr>
          <p:cNvSpPr txBox="1"/>
          <p:nvPr/>
        </p:nvSpPr>
        <p:spPr>
          <a:xfrm>
            <a:off x="1163782" y="2244984"/>
            <a:ext cx="1318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Autorisation (A-t-il le droit d’accéder à cette ressource ?)</a:t>
            </a:r>
          </a:p>
        </p:txBody>
      </p:sp>
    </p:spTree>
    <p:extLst>
      <p:ext uri="{BB962C8B-B14F-4D97-AF65-F5344CB8AC3E}">
        <p14:creationId xmlns:p14="http://schemas.microsoft.com/office/powerpoint/2010/main" val="1779717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6109E-7A13-861A-17AA-8B36CBF5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16DBAFA2-E7F7-890C-5F04-329936A02B31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6BCE87D4-CE34-EE0A-5AAA-E0747F8FA445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03.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B15DEF2-192B-A91E-BBB4-4129AF397AF2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Mesures de sécurité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AE327-1C08-4E1F-6298-03F68F8A1DE3}"/>
              </a:ext>
            </a:extLst>
          </p:cNvPr>
          <p:cNvSpPr txBox="1"/>
          <p:nvPr/>
        </p:nvSpPr>
        <p:spPr>
          <a:xfrm>
            <a:off x="1684044" y="2997906"/>
            <a:ext cx="13182600" cy="113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Hash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avec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 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bcrypt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Jamais stocké 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en clair.</a:t>
            </a:r>
            <a:endParaRPr lang="fr-FR" sz="2400" dirty="0">
              <a:solidFill>
                <a:srgbClr val="8A8A8A"/>
              </a:solidFill>
              <a:latin typeface="Avenir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03E68-1A2B-0574-9D08-5BA4AAD78BF7}"/>
              </a:ext>
            </a:extLst>
          </p:cNvPr>
          <p:cNvSpPr txBox="1"/>
          <p:nvPr/>
        </p:nvSpPr>
        <p:spPr>
          <a:xfrm>
            <a:off x="1163782" y="2244984"/>
            <a:ext cx="1232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Sécurisation du mot de passe :</a:t>
            </a:r>
            <a:endParaRPr lang="en-US" sz="3600" b="1" dirty="0">
              <a:solidFill>
                <a:srgbClr val="8CA9A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CB3E1-E588-4190-A3C9-2D94074D7853}"/>
              </a:ext>
            </a:extLst>
          </p:cNvPr>
          <p:cNvSpPr txBox="1"/>
          <p:nvPr/>
        </p:nvSpPr>
        <p:spPr>
          <a:xfrm>
            <a:off x="1684044" y="5372509"/>
            <a:ext cx="12483661" cy="113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Empêche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les injections 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(SQL, scripts…).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Joi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, 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validator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, middleware custom.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1E613-726F-492E-822F-C4708DF4F358}"/>
              </a:ext>
            </a:extLst>
          </p:cNvPr>
          <p:cNvSpPr txBox="1"/>
          <p:nvPr/>
        </p:nvSpPr>
        <p:spPr>
          <a:xfrm>
            <a:off x="1163782" y="4569098"/>
            <a:ext cx="6601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8CA9AD"/>
                </a:solidFill>
                <a:latin typeface="Avenir" panose="020B0604020202020204" charset="0"/>
              </a:rPr>
              <a:t>Validation des entrées</a:t>
            </a:r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 : </a:t>
            </a:r>
            <a:endParaRPr lang="en-US" sz="3600" b="1" dirty="0">
              <a:solidFill>
                <a:srgbClr val="8CA9A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9E1009-F70A-4538-8A07-585017F5DE92}"/>
              </a:ext>
            </a:extLst>
          </p:cNvPr>
          <p:cNvSpPr txBox="1"/>
          <p:nvPr/>
        </p:nvSpPr>
        <p:spPr>
          <a:xfrm>
            <a:off x="1163782" y="6931721"/>
            <a:ext cx="6601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Protection des headers : </a:t>
            </a:r>
            <a:endParaRPr lang="en-US" sz="3600" b="1" dirty="0">
              <a:solidFill>
                <a:srgbClr val="8CA9AD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6BCBEC-5AC1-495D-9203-D253C623BE38}"/>
              </a:ext>
            </a:extLst>
          </p:cNvPr>
          <p:cNvSpPr txBox="1"/>
          <p:nvPr/>
        </p:nvSpPr>
        <p:spPr>
          <a:xfrm>
            <a:off x="1684044" y="7747112"/>
            <a:ext cx="12483661" cy="113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Utilisation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du middleware 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Helmet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Ajoute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des headers de sécurité automatiques.</a:t>
            </a:r>
          </a:p>
        </p:txBody>
      </p:sp>
    </p:spTree>
    <p:extLst>
      <p:ext uri="{BB962C8B-B14F-4D97-AF65-F5344CB8AC3E}">
        <p14:creationId xmlns:p14="http://schemas.microsoft.com/office/powerpoint/2010/main" val="1053149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6109E-7A13-861A-17AA-8B36CBF5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16DBAFA2-E7F7-890C-5F04-329936A02B31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6BCE87D4-CE34-EE0A-5AAA-E0747F8FA445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03.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B15DEF2-192B-A91E-BBB4-4129AF397AF2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Mesures de sécurité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AE327-1C08-4E1F-6298-03F68F8A1DE3}"/>
              </a:ext>
            </a:extLst>
          </p:cNvPr>
          <p:cNvSpPr txBox="1"/>
          <p:nvPr/>
        </p:nvSpPr>
        <p:spPr>
          <a:xfrm>
            <a:off x="1684044" y="2997906"/>
            <a:ext cx="13182600" cy="113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Limite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le nombre de requêtes pour éviter les attaques type 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DDoS.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express-rate-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limit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03E68-1A2B-0574-9D08-5BA4AAD78BF7}"/>
              </a:ext>
            </a:extLst>
          </p:cNvPr>
          <p:cNvSpPr txBox="1"/>
          <p:nvPr/>
        </p:nvSpPr>
        <p:spPr>
          <a:xfrm>
            <a:off x="1163782" y="2244984"/>
            <a:ext cx="1232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Rate </a:t>
            </a:r>
            <a:r>
              <a:rPr lang="fr-FR" sz="3600" b="1" kern="1200" dirty="0" err="1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Limiting</a:t>
            </a:r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 :</a:t>
            </a:r>
            <a:endParaRPr lang="en-US" sz="3600" b="1" dirty="0">
              <a:solidFill>
                <a:srgbClr val="8CA9A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CB3E1-E588-4190-A3C9-2D94074D7853}"/>
              </a:ext>
            </a:extLst>
          </p:cNvPr>
          <p:cNvSpPr txBox="1"/>
          <p:nvPr/>
        </p:nvSpPr>
        <p:spPr>
          <a:xfrm>
            <a:off x="1684044" y="5372509"/>
            <a:ext cx="12483661" cy="113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Routes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admin protégées 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par rôle.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JWT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vérifié via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 middleware 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auth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1E613-726F-492E-822F-C4708DF4F358}"/>
              </a:ext>
            </a:extLst>
          </p:cNvPr>
          <p:cNvSpPr txBox="1"/>
          <p:nvPr/>
        </p:nvSpPr>
        <p:spPr>
          <a:xfrm>
            <a:off x="1163782" y="4569098"/>
            <a:ext cx="7523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8CA9AD"/>
                </a:solidFill>
                <a:latin typeface="Avenir" panose="020B0604020202020204" charset="0"/>
              </a:rPr>
              <a:t>Protection des routes sensibles</a:t>
            </a:r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: </a:t>
            </a:r>
            <a:endParaRPr lang="en-US" sz="3600" b="1" dirty="0">
              <a:solidFill>
                <a:srgbClr val="8CA9A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9E1009-F70A-4538-8A07-585017F5DE92}"/>
              </a:ext>
            </a:extLst>
          </p:cNvPr>
          <p:cNvSpPr txBox="1"/>
          <p:nvPr/>
        </p:nvSpPr>
        <p:spPr>
          <a:xfrm>
            <a:off x="1163782" y="6931721"/>
            <a:ext cx="6601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Variables d’environnement : </a:t>
            </a:r>
            <a:endParaRPr lang="en-US" sz="3600" b="1" dirty="0">
              <a:solidFill>
                <a:srgbClr val="8CA9AD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6BCBEC-5AC1-495D-9203-D253C623BE38}"/>
              </a:ext>
            </a:extLst>
          </p:cNvPr>
          <p:cNvSpPr txBox="1"/>
          <p:nvPr/>
        </p:nvSpPr>
        <p:spPr>
          <a:xfrm>
            <a:off x="1684044" y="7747112"/>
            <a:ext cx="12483661" cy="113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Pas d’informations sensibles dans le code.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Utilisation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de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 .</a:t>
            </a: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env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 (clé JWT, connexion DB, etc.).</a:t>
            </a:r>
            <a:endParaRPr lang="fr-FR" sz="2400" dirty="0">
              <a:solidFill>
                <a:srgbClr val="8A8A8A"/>
              </a:solidFill>
              <a:latin typeface="Aveni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763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6109E-7A13-861A-17AA-8B36CBF5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16DBAFA2-E7F7-890C-5F04-329936A02B31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6BCE87D4-CE34-EE0A-5AAA-E0747F8FA445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03.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B15DEF2-192B-A91E-BBB4-4129AF397AF2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Mesures de sécurité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AE327-1C08-4E1F-6298-03F68F8A1DE3}"/>
              </a:ext>
            </a:extLst>
          </p:cNvPr>
          <p:cNvSpPr txBox="1"/>
          <p:nvPr/>
        </p:nvSpPr>
        <p:spPr>
          <a:xfrm>
            <a:off x="1684044" y="2997906"/>
            <a:ext cx="13182600" cy="113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Contrôle des origines autorisées.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Empêche les accès non désirés depuis des domaines externes.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03E68-1A2B-0574-9D08-5BA4AAD78BF7}"/>
              </a:ext>
            </a:extLst>
          </p:cNvPr>
          <p:cNvSpPr txBox="1"/>
          <p:nvPr/>
        </p:nvSpPr>
        <p:spPr>
          <a:xfrm>
            <a:off x="1163782" y="2244984"/>
            <a:ext cx="1232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kern="1200" dirty="0">
                <a:solidFill>
                  <a:srgbClr val="8CA9AD"/>
                </a:solidFill>
                <a:effectLst/>
                <a:latin typeface="Avenir" panose="020B0604020202020204" charset="0"/>
                <a:ea typeface="+mn-ea"/>
                <a:cs typeface="+mn-cs"/>
              </a:rPr>
              <a:t>CORS:</a:t>
            </a:r>
            <a:endParaRPr lang="en-US" sz="3600" b="1" dirty="0">
              <a:solidFill>
                <a:srgbClr val="8CA9A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81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0FF66-92B9-F31A-F042-A07ED7B2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3418E5-9CD0-A0E9-2EFA-CDF888D78610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3A99603-FF66-55DE-8DEB-1BFECBABFD46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FDCF84-A248-FCD5-AF02-48BC9376A151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0174BBE-ACA0-3018-420E-1C501ACCC327}"/>
              </a:ext>
            </a:extLst>
          </p:cNvPr>
          <p:cNvSpPr txBox="1"/>
          <p:nvPr/>
        </p:nvSpPr>
        <p:spPr>
          <a:xfrm>
            <a:off x="3143314" y="4517171"/>
            <a:ext cx="118110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7200" b="1" noProof="0" dirty="0">
                <a:solidFill>
                  <a:schemeClr val="bg1"/>
                </a:solidFill>
                <a:latin typeface="Avenir Bold"/>
                <a:ea typeface="Avenir Bold"/>
                <a:cs typeface="Avenir Bold"/>
                <a:sym typeface="Avenir Bold"/>
              </a:rPr>
              <a:t>TESTS ET DÉPLOIEMENT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56C1297-CB3B-A7FB-F6FF-779478A2C0B4}"/>
              </a:ext>
            </a:extLst>
          </p:cNvPr>
          <p:cNvSpPr txBox="1"/>
          <p:nvPr/>
        </p:nvSpPr>
        <p:spPr>
          <a:xfrm>
            <a:off x="1790700" y="1714500"/>
            <a:ext cx="1938412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fr-FR" sz="7000" b="1" noProof="0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05.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0C6F782-B9D8-668C-013D-B60D5C6B1564}"/>
              </a:ext>
            </a:extLst>
          </p:cNvPr>
          <p:cNvSpPr/>
          <p:nvPr/>
        </p:nvSpPr>
        <p:spPr>
          <a:xfrm>
            <a:off x="5893678" y="8135576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7C3839B-D401-4D0F-5AF3-50B15104710C}"/>
              </a:ext>
            </a:extLst>
          </p:cNvPr>
          <p:cNvSpPr/>
          <p:nvPr/>
        </p:nvSpPr>
        <p:spPr>
          <a:xfrm>
            <a:off x="1028700" y="8135576"/>
            <a:ext cx="4102978" cy="3133183"/>
          </a:xfrm>
          <a:custGeom>
            <a:avLst/>
            <a:gdLst/>
            <a:ahLst/>
            <a:cxnLst/>
            <a:rect l="l" t="t" r="r" b="b"/>
            <a:pathLst>
              <a:path w="4102978" h="3133183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994140C-AB8A-159F-8A5F-629C7C1C7AB2}"/>
              </a:ext>
            </a:extLst>
          </p:cNvPr>
          <p:cNvGrpSpPr/>
          <p:nvPr/>
        </p:nvGrpSpPr>
        <p:grpSpPr>
          <a:xfrm>
            <a:off x="13543121" y="-308824"/>
            <a:ext cx="7549097" cy="8444400"/>
            <a:chOff x="0" y="0"/>
            <a:chExt cx="10065462" cy="11259200"/>
          </a:xfrm>
        </p:grpSpPr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C7458193-82BF-2854-CD6B-1AA89A545D54}"/>
                </a:ext>
              </a:extLst>
            </p:cNvPr>
            <p:cNvSpPr/>
            <p:nvPr/>
          </p:nvSpPr>
          <p:spPr>
            <a:xfrm flipV="1">
              <a:off x="23020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0442B92D-B223-779A-8462-3665CEA381E1}"/>
                </a:ext>
              </a:extLst>
            </p:cNvPr>
            <p:cNvSpPr/>
            <p:nvPr/>
          </p:nvSpPr>
          <p:spPr>
            <a:xfrm flipV="1">
              <a:off x="554040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AutoShape 13">
              <a:extLst>
                <a:ext uri="{FF2B5EF4-FFF2-40B4-BE49-F238E27FC236}">
                  <a16:creationId xmlns:a16="http://schemas.microsoft.com/office/drawing/2014/main" id="{8681F495-F307-C459-B449-620A822E147F}"/>
                </a:ext>
              </a:extLst>
            </p:cNvPr>
            <p:cNvSpPr/>
            <p:nvPr/>
          </p:nvSpPr>
          <p:spPr>
            <a:xfrm flipV="1">
              <a:off x="108506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D38F7D96-F51A-CDFB-06FF-94F73DBA16F7}"/>
                </a:ext>
              </a:extLst>
            </p:cNvPr>
            <p:cNvSpPr/>
            <p:nvPr/>
          </p:nvSpPr>
          <p:spPr>
            <a:xfrm flipV="1">
              <a:off x="161608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AutoShape 15">
              <a:extLst>
                <a:ext uri="{FF2B5EF4-FFF2-40B4-BE49-F238E27FC236}">
                  <a16:creationId xmlns:a16="http://schemas.microsoft.com/office/drawing/2014/main" id="{EBB293A2-2212-51F2-03FE-78C0ACF4DF3D}"/>
                </a:ext>
              </a:extLst>
            </p:cNvPr>
            <p:cNvSpPr/>
            <p:nvPr/>
          </p:nvSpPr>
          <p:spPr>
            <a:xfrm flipV="1">
              <a:off x="214710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AutoShape 16">
              <a:extLst>
                <a:ext uri="{FF2B5EF4-FFF2-40B4-BE49-F238E27FC236}">
                  <a16:creationId xmlns:a16="http://schemas.microsoft.com/office/drawing/2014/main" id="{22713BEF-A858-648F-93AF-532E8FFEF77E}"/>
                </a:ext>
              </a:extLst>
            </p:cNvPr>
            <p:cNvSpPr/>
            <p:nvPr/>
          </p:nvSpPr>
          <p:spPr>
            <a:xfrm flipV="1">
              <a:off x="267812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A850FE79-2FF4-7EBF-0EFD-2B057149CC5C}"/>
                </a:ext>
              </a:extLst>
            </p:cNvPr>
            <p:cNvSpPr/>
            <p:nvPr/>
          </p:nvSpPr>
          <p:spPr>
            <a:xfrm flipV="1">
              <a:off x="320914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AutoShape 18">
              <a:extLst>
                <a:ext uri="{FF2B5EF4-FFF2-40B4-BE49-F238E27FC236}">
                  <a16:creationId xmlns:a16="http://schemas.microsoft.com/office/drawing/2014/main" id="{C6585F45-AF64-EE60-943A-F52A2418D6CB}"/>
                </a:ext>
              </a:extLst>
            </p:cNvPr>
            <p:cNvSpPr/>
            <p:nvPr/>
          </p:nvSpPr>
          <p:spPr>
            <a:xfrm flipV="1">
              <a:off x="374016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A7530F10-DDAD-3FD3-5ACF-386783B35CD0}"/>
                </a:ext>
              </a:extLst>
            </p:cNvPr>
            <p:cNvSpPr/>
            <p:nvPr/>
          </p:nvSpPr>
          <p:spPr>
            <a:xfrm flipV="1">
              <a:off x="427118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AutoShape 20">
              <a:extLst>
                <a:ext uri="{FF2B5EF4-FFF2-40B4-BE49-F238E27FC236}">
                  <a16:creationId xmlns:a16="http://schemas.microsoft.com/office/drawing/2014/main" id="{986D2B83-7C1B-1D31-9187-64B0D4355D90}"/>
                </a:ext>
              </a:extLst>
            </p:cNvPr>
            <p:cNvSpPr/>
            <p:nvPr/>
          </p:nvSpPr>
          <p:spPr>
            <a:xfrm flipV="1">
              <a:off x="480220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607243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01.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03D584DF-D3C2-E00F-5596-03BF4B669DDF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Phase de Tests - Importance pour le projet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E5AB6-6033-BB30-FBF3-5D82E4DE2ECA}"/>
              </a:ext>
            </a:extLst>
          </p:cNvPr>
          <p:cNvGrpSpPr/>
          <p:nvPr/>
        </p:nvGrpSpPr>
        <p:grpSpPr>
          <a:xfrm>
            <a:off x="1143000" y="2244984"/>
            <a:ext cx="13723644" cy="5599046"/>
            <a:chOff x="754356" y="2561778"/>
            <a:chExt cx="13723644" cy="559904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9204DC-3DD7-C5AE-1814-B14D57CE2373}"/>
                </a:ext>
              </a:extLst>
            </p:cNvPr>
            <p:cNvSpPr txBox="1"/>
            <p:nvPr/>
          </p:nvSpPr>
          <p:spPr>
            <a:xfrm>
              <a:off x="1295400" y="3314700"/>
              <a:ext cx="13182600" cy="1136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Assurer la fiabilité et la stabilité de l’application avant le déploiement.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Détecter et corriger les bugs et problèmes de performance.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99AF1C-E285-3C5E-7988-F0CBAB9E73EB}"/>
                </a:ext>
              </a:extLst>
            </p:cNvPr>
            <p:cNvSpPr txBox="1"/>
            <p:nvPr/>
          </p:nvSpPr>
          <p:spPr>
            <a:xfrm>
              <a:off x="775138" y="2561778"/>
              <a:ext cx="64633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Objectif des tests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83732E5-2B27-1D1B-280E-8AD3B185F2C6}"/>
                </a:ext>
              </a:extLst>
            </p:cNvPr>
            <p:cNvSpPr txBox="1"/>
            <p:nvPr/>
          </p:nvSpPr>
          <p:spPr>
            <a:xfrm>
              <a:off x="1295400" y="6469912"/>
              <a:ext cx="12483661" cy="1690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Garantit que toutes les fonctionnalités (User, </a:t>
              </a: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Auth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, Product, </a:t>
              </a: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Order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) fonctionnent correctement.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Facilite la maintenance et l’évolution de l’application.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77C6F4-4087-0F02-8E24-5022FF5E139B}"/>
                </a:ext>
              </a:extLst>
            </p:cNvPr>
            <p:cNvSpPr txBox="1"/>
            <p:nvPr/>
          </p:nvSpPr>
          <p:spPr>
            <a:xfrm>
              <a:off x="754356" y="5543118"/>
              <a:ext cx="660130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Importance pour notre projet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0471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01.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03D584DF-D3C2-E00F-5596-03BF4B669DDF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Phase de Tests - Importance pour le projet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E5AB6-6033-BB30-FBF3-5D82E4DE2ECA}"/>
              </a:ext>
            </a:extLst>
          </p:cNvPr>
          <p:cNvGrpSpPr/>
          <p:nvPr/>
        </p:nvGrpSpPr>
        <p:grpSpPr>
          <a:xfrm>
            <a:off x="1143000" y="2244984"/>
            <a:ext cx="13723644" cy="5045048"/>
            <a:chOff x="754356" y="2561778"/>
            <a:chExt cx="13723644" cy="504504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9204DC-3DD7-C5AE-1814-B14D57CE2373}"/>
                </a:ext>
              </a:extLst>
            </p:cNvPr>
            <p:cNvSpPr txBox="1"/>
            <p:nvPr/>
          </p:nvSpPr>
          <p:spPr>
            <a:xfrm>
              <a:off x="1295400" y="3314700"/>
              <a:ext cx="13182600" cy="1136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Unitaires →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testent les fonctions et modules individuellement.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D’intégration →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testent la communication entre plusieurs modules ou </a:t>
              </a:r>
              <a:r>
                <a:rPr lang="fr-FR" sz="2400" dirty="0" err="1">
                  <a:solidFill>
                    <a:srgbClr val="8A8A8A"/>
                  </a:solidFill>
                  <a:latin typeface="Avenir" panose="020B0604020202020204" charset="0"/>
                </a:rPr>
                <a:t>endpoints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99AF1C-E285-3C5E-7988-F0CBAB9E73EB}"/>
                </a:ext>
              </a:extLst>
            </p:cNvPr>
            <p:cNvSpPr txBox="1"/>
            <p:nvPr/>
          </p:nvSpPr>
          <p:spPr>
            <a:xfrm>
              <a:off x="775138" y="2561778"/>
              <a:ext cx="64633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Types de tests réalisés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83732E5-2B27-1D1B-280E-8AD3B185F2C6}"/>
                </a:ext>
              </a:extLst>
            </p:cNvPr>
            <p:cNvSpPr txBox="1"/>
            <p:nvPr/>
          </p:nvSpPr>
          <p:spPr>
            <a:xfrm>
              <a:off x="1295400" y="6469912"/>
              <a:ext cx="12483661" cy="1136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Jest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 :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installé dans notre projet pour les tests unitaires.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Supertest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 :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installé pour tester tous nos </a:t>
              </a:r>
              <a:r>
                <a:rPr lang="fr-FR" sz="2400" dirty="0" err="1">
                  <a:solidFill>
                    <a:srgbClr val="8A8A8A"/>
                  </a:solidFill>
                  <a:latin typeface="Avenir" panose="020B0604020202020204" charset="0"/>
                </a:rPr>
                <a:t>endpoints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 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API.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77C6F4-4087-0F02-8E24-5022FF5E139B}"/>
                </a:ext>
              </a:extLst>
            </p:cNvPr>
            <p:cNvSpPr txBox="1"/>
            <p:nvPr/>
          </p:nvSpPr>
          <p:spPr>
            <a:xfrm>
              <a:off x="754356" y="5543118"/>
              <a:ext cx="660130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Outils utilisés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4781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02.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03D584DF-D3C2-E00F-5596-03BF4B669DDF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 err="1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Jest</a:t>
            </a: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 vs </a:t>
            </a:r>
            <a:r>
              <a:rPr lang="fr-FR" sz="4800" b="1" noProof="0" dirty="0" err="1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Supertest</a:t>
            </a:r>
            <a:endParaRPr lang="fr-FR" sz="4800" b="1" noProof="0" dirty="0">
              <a:solidFill>
                <a:srgbClr val="8A8A8A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E5AB6-6033-BB30-FBF3-5D82E4DE2ECA}"/>
              </a:ext>
            </a:extLst>
          </p:cNvPr>
          <p:cNvGrpSpPr/>
          <p:nvPr/>
        </p:nvGrpSpPr>
        <p:grpSpPr>
          <a:xfrm>
            <a:off x="1143000" y="2244984"/>
            <a:ext cx="13723644" cy="5045048"/>
            <a:chOff x="754356" y="2561778"/>
            <a:chExt cx="13723644" cy="504504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9204DC-3DD7-C5AE-1814-B14D57CE2373}"/>
                </a:ext>
              </a:extLst>
            </p:cNvPr>
            <p:cNvSpPr txBox="1"/>
            <p:nvPr/>
          </p:nvSpPr>
          <p:spPr>
            <a:xfrm>
              <a:off x="1295400" y="3314700"/>
              <a:ext cx="13182600" cy="1136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Teste les fonctions et modules individuellement (unitaires).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Exemple :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vérifier que la fonction </a:t>
              </a:r>
              <a:r>
                <a:rPr lang="fr-FR" sz="2400" dirty="0" err="1">
                  <a:solidFill>
                    <a:srgbClr val="8A8A8A"/>
                  </a:solidFill>
                  <a:latin typeface="Avenir" panose="020B0604020202020204" charset="0"/>
                </a:rPr>
                <a:t>createUser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() crée correctement un utilisateur.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99AF1C-E285-3C5E-7988-F0CBAB9E73EB}"/>
                </a:ext>
              </a:extLst>
            </p:cNvPr>
            <p:cNvSpPr txBox="1"/>
            <p:nvPr/>
          </p:nvSpPr>
          <p:spPr>
            <a:xfrm>
              <a:off x="775138" y="2561778"/>
              <a:ext cx="64633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 err="1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Jest</a:t>
              </a:r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83732E5-2B27-1D1B-280E-8AD3B185F2C6}"/>
                </a:ext>
              </a:extLst>
            </p:cNvPr>
            <p:cNvSpPr txBox="1"/>
            <p:nvPr/>
          </p:nvSpPr>
          <p:spPr>
            <a:xfrm>
              <a:off x="1295400" y="6469912"/>
              <a:ext cx="12483661" cy="1136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Teste les </a:t>
              </a: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endpoints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 API (intégration).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Exemple</a:t>
              </a:r>
              <a:r>
                <a:rPr lang="en-US" sz="2400" b="1" dirty="0">
                  <a:solidFill>
                    <a:srgbClr val="8A8A8A"/>
                  </a:solidFill>
                  <a:latin typeface="Avenir" panose="020B0604020202020204" charset="0"/>
                </a:rPr>
                <a:t>: tester POST /auth/login, GET /products, POST /orders.</a:t>
              </a:r>
              <a:endParaRPr lang="fr-FR" sz="2400" b="1" dirty="0">
                <a:solidFill>
                  <a:srgbClr val="8A8A8A"/>
                </a:solidFill>
                <a:latin typeface="Avenir" panose="020B060402020202020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77C6F4-4087-0F02-8E24-5022FF5E139B}"/>
                </a:ext>
              </a:extLst>
            </p:cNvPr>
            <p:cNvSpPr txBox="1"/>
            <p:nvPr/>
          </p:nvSpPr>
          <p:spPr>
            <a:xfrm>
              <a:off x="754356" y="5543118"/>
              <a:ext cx="660130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 err="1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Supertest</a:t>
              </a:r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38882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02.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03D584DF-D3C2-E00F-5596-03BF4B669DDF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 err="1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Jest</a:t>
            </a: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 vs </a:t>
            </a:r>
            <a:r>
              <a:rPr lang="fr-FR" sz="4800" b="1" noProof="0" dirty="0" err="1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Supertest</a:t>
            </a:r>
            <a:endParaRPr lang="fr-FR" sz="4800" b="1" noProof="0" dirty="0">
              <a:solidFill>
                <a:srgbClr val="8A8A8A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50FB382-6E6A-4793-8C7D-D91166076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940549"/>
              </p:ext>
            </p:extLst>
          </p:nvPr>
        </p:nvGraphicFramePr>
        <p:xfrm>
          <a:off x="1833996" y="2324100"/>
          <a:ext cx="14620008" cy="3036499"/>
        </p:xfrm>
        <a:graphic>
          <a:graphicData uri="http://schemas.openxmlformats.org/drawingml/2006/table">
            <a:tbl>
              <a:tblPr/>
              <a:tblGrid>
                <a:gridCol w="4873336">
                  <a:extLst>
                    <a:ext uri="{9D8B030D-6E8A-4147-A177-3AD203B41FA5}">
                      <a16:colId xmlns:a16="http://schemas.microsoft.com/office/drawing/2014/main" val="775939925"/>
                    </a:ext>
                  </a:extLst>
                </a:gridCol>
                <a:gridCol w="4873336">
                  <a:extLst>
                    <a:ext uri="{9D8B030D-6E8A-4147-A177-3AD203B41FA5}">
                      <a16:colId xmlns:a16="http://schemas.microsoft.com/office/drawing/2014/main" val="3969707352"/>
                    </a:ext>
                  </a:extLst>
                </a:gridCol>
                <a:gridCol w="4873336">
                  <a:extLst>
                    <a:ext uri="{9D8B030D-6E8A-4147-A177-3AD203B41FA5}">
                      <a16:colId xmlns:a16="http://schemas.microsoft.com/office/drawing/2014/main" val="3490806367"/>
                    </a:ext>
                  </a:extLst>
                </a:gridCol>
              </a:tblGrid>
              <a:tr h="692737">
                <a:tc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rgbClr val="8CA9AD"/>
                          </a:solidFill>
                          <a:latin typeface="+mn-lt"/>
                          <a:ea typeface="+mn-ea"/>
                          <a:cs typeface="+mn-cs"/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8CA9AD"/>
                          </a:solidFill>
                        </a:rPr>
                        <a:t>Jest</a:t>
                      </a:r>
                      <a:endParaRPr lang="en-US" sz="2800" dirty="0">
                        <a:solidFill>
                          <a:srgbClr val="8CA9AD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rgbClr val="8CA9AD"/>
                          </a:solidFill>
                          <a:latin typeface="+mn-lt"/>
                          <a:ea typeface="+mn-ea"/>
                          <a:cs typeface="+mn-cs"/>
                        </a:rPr>
                        <a:t>Supertest</a:t>
                      </a:r>
                      <a:endParaRPr lang="en-US" sz="2800" b="1" kern="1200" dirty="0">
                        <a:solidFill>
                          <a:srgbClr val="8CA9A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013235"/>
                  </a:ext>
                </a:extLst>
              </a:tr>
              <a:tr h="692737">
                <a:tc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rgbClr val="8CA9AD"/>
                          </a:solidFill>
                          <a:latin typeface="+mn-lt"/>
                          <a:ea typeface="+mn-ea"/>
                          <a:cs typeface="+mn-cs"/>
                        </a:rPr>
                        <a:t>Type de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</a:t>
                      </a:r>
                      <a:r>
                        <a:rPr lang="en-US" sz="2400" b="1" dirty="0" err="1"/>
                        <a:t>unitaire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</a:t>
                      </a:r>
                      <a:r>
                        <a:rPr lang="en-US" sz="2400" b="1" dirty="0" err="1"/>
                        <a:t>d’intégration</a:t>
                      </a:r>
                      <a:r>
                        <a:rPr lang="en-US" sz="2400" b="1" dirty="0"/>
                        <a:t> / API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820672"/>
                  </a:ext>
                </a:extLst>
              </a:tr>
              <a:tr h="958288">
                <a:tc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rgbClr val="8CA9AD"/>
                          </a:solidFill>
                          <a:latin typeface="+mn-lt"/>
                          <a:ea typeface="+mn-ea"/>
                          <a:cs typeface="+mn-cs"/>
                        </a:rPr>
                        <a:t>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Fonctions</a:t>
                      </a:r>
                      <a:r>
                        <a:rPr lang="en-US" sz="2400" b="1" dirty="0"/>
                        <a:t> internes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Endpoints HTTP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319835"/>
                  </a:ext>
                </a:extLst>
              </a:tr>
              <a:tr h="692737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rgbClr val="8CA9AD"/>
                          </a:solidFill>
                          <a:latin typeface="+mn-lt"/>
                          <a:ea typeface="+mn-ea"/>
                          <a:cs typeface="+mn-cs"/>
                        </a:rPr>
                        <a:t>Exemple</a:t>
                      </a:r>
                      <a:endParaRPr lang="en-US" sz="2800" b="1" kern="1200" dirty="0">
                        <a:solidFill>
                          <a:srgbClr val="8CA9A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addProduct</a:t>
                      </a:r>
                      <a:r>
                        <a:rPr lang="en-US" sz="240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POST /products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281917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088063B-92D9-4426-AAE0-96C4C5C282F2}"/>
              </a:ext>
            </a:extLst>
          </p:cNvPr>
          <p:cNvSpPr txBox="1"/>
          <p:nvPr/>
        </p:nvSpPr>
        <p:spPr>
          <a:xfrm>
            <a:off x="2376055" y="6057900"/>
            <a:ext cx="13723644" cy="2244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User :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création, modification, suppression.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Auth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 :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inscription, login, validation </a:t>
            </a:r>
            <a:r>
              <a:rPr lang="fr-FR" sz="2400" dirty="0" err="1">
                <a:solidFill>
                  <a:srgbClr val="8A8A8A"/>
                </a:solidFill>
                <a:latin typeface="Avenir" panose="020B0604020202020204" charset="0"/>
              </a:rPr>
              <a:t>token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Product : CRUD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complet.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 err="1">
                <a:solidFill>
                  <a:srgbClr val="8A8A8A"/>
                </a:solidFill>
                <a:latin typeface="Avenir" panose="020B0604020202020204" charset="0"/>
              </a:rPr>
              <a:t>Order</a:t>
            </a:r>
            <a:r>
              <a:rPr lang="fr-FR" sz="2400" b="1" dirty="0">
                <a:solidFill>
                  <a:srgbClr val="8A8A8A"/>
                </a:solidFill>
                <a:latin typeface="Avenir" panose="020B0604020202020204" charset="0"/>
              </a:rPr>
              <a:t> : </a:t>
            </a:r>
            <a:r>
              <a:rPr lang="fr-FR" sz="2400" dirty="0">
                <a:solidFill>
                  <a:srgbClr val="8A8A8A"/>
                </a:solidFill>
                <a:latin typeface="Avenir" panose="020B0604020202020204" charset="0"/>
              </a:rPr>
              <a:t>création et consultation de commandes.</a:t>
            </a:r>
          </a:p>
        </p:txBody>
      </p:sp>
    </p:spTree>
    <p:extLst>
      <p:ext uri="{BB962C8B-B14F-4D97-AF65-F5344CB8AC3E}">
        <p14:creationId xmlns:p14="http://schemas.microsoft.com/office/powerpoint/2010/main" val="4319028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03.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03D584DF-D3C2-E00F-5596-03BF4B669DDF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Déploiement et base de données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E5AB6-6033-BB30-FBF3-5D82E4DE2ECA}"/>
              </a:ext>
            </a:extLst>
          </p:cNvPr>
          <p:cNvGrpSpPr/>
          <p:nvPr/>
        </p:nvGrpSpPr>
        <p:grpSpPr>
          <a:xfrm>
            <a:off x="1143000" y="2244984"/>
            <a:ext cx="13723644" cy="6153044"/>
            <a:chOff x="754356" y="2561778"/>
            <a:chExt cx="13723644" cy="615304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9204DC-3DD7-C5AE-1814-B14D57CE2373}"/>
                </a:ext>
              </a:extLst>
            </p:cNvPr>
            <p:cNvSpPr txBox="1"/>
            <p:nvPr/>
          </p:nvSpPr>
          <p:spPr>
            <a:xfrm>
              <a:off x="1295400" y="3314700"/>
              <a:ext cx="13182600" cy="1690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Déploiement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en mode production à partir de notre repository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Git.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Render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 </a:t>
              </a:r>
              <a:r>
                <a:rPr lang="fr-FR" sz="2400" dirty="0" err="1">
                  <a:solidFill>
                    <a:srgbClr val="8A8A8A"/>
                  </a:solidFill>
                  <a:latin typeface="Avenir" panose="020B0604020202020204" charset="0"/>
                </a:rPr>
                <a:t>build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 automatiquement l’application et la rend disponible en ligne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Permet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de partager la version finale avec l’équipe et les utilisateurs.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99AF1C-E285-3C5E-7988-F0CBAB9E73EB}"/>
                </a:ext>
              </a:extLst>
            </p:cNvPr>
            <p:cNvSpPr txBox="1"/>
            <p:nvPr/>
          </p:nvSpPr>
          <p:spPr>
            <a:xfrm>
              <a:off x="775138" y="2561778"/>
              <a:ext cx="64633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Déploiement avec </a:t>
              </a:r>
              <a:r>
                <a:rPr lang="fr-FR" sz="3600" b="1" kern="1200" dirty="0" err="1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Render</a:t>
              </a:r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83732E5-2B27-1D1B-280E-8AD3B185F2C6}"/>
                </a:ext>
              </a:extLst>
            </p:cNvPr>
            <p:cNvSpPr txBox="1"/>
            <p:nvPr/>
          </p:nvSpPr>
          <p:spPr>
            <a:xfrm>
              <a:off x="1295400" y="6469912"/>
              <a:ext cx="12483661" cy="2244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Base de données MongoDB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hébergée dans le cloud.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Accès sécurisé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via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 URI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et variables d’environnement.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Permet de gérer les données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de l’application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(produits, utilisateurs, commandes)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de manière fiable.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77C6F4-4087-0F02-8E24-5022FF5E139B}"/>
                </a:ext>
              </a:extLst>
            </p:cNvPr>
            <p:cNvSpPr txBox="1"/>
            <p:nvPr/>
          </p:nvSpPr>
          <p:spPr>
            <a:xfrm>
              <a:off x="754356" y="5543118"/>
              <a:ext cx="99822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Base de données avec MongoDB Atlas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3171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FBB1-D3D7-521F-1400-0AFD2E6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393602A-3129-E5FD-481D-EEDD08893453}"/>
              </a:ext>
            </a:extLst>
          </p:cNvPr>
          <p:cNvSpPr/>
          <p:nvPr/>
        </p:nvSpPr>
        <p:spPr>
          <a:xfrm>
            <a:off x="2362200" y="9451252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B93D0FA-926E-C72A-9FD3-4D59C8D0FD2D}"/>
              </a:ext>
            </a:extLst>
          </p:cNvPr>
          <p:cNvSpPr txBox="1"/>
          <p:nvPr/>
        </p:nvSpPr>
        <p:spPr>
          <a:xfrm>
            <a:off x="2276018" y="276036"/>
            <a:ext cx="138158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fr-FR" sz="6600" b="1" noProof="0" dirty="0">
                <a:solidFill>
                  <a:srgbClr val="8DA7AB"/>
                </a:solidFill>
                <a:latin typeface="Avenir Bold"/>
                <a:ea typeface="Avenir Bold"/>
                <a:cs typeface="Avenir Bold"/>
                <a:sym typeface="Avenir Bold"/>
              </a:rPr>
              <a:t>03.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03D584DF-D3C2-E00F-5596-03BF4B669DDF}"/>
              </a:ext>
            </a:extLst>
          </p:cNvPr>
          <p:cNvSpPr txBox="1"/>
          <p:nvPr/>
        </p:nvSpPr>
        <p:spPr>
          <a:xfrm>
            <a:off x="3657600" y="647700"/>
            <a:ext cx="13639800" cy="544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fr-FR" sz="4800" b="1" noProof="0" dirty="0">
                <a:solidFill>
                  <a:srgbClr val="8A8A8A"/>
                </a:solidFill>
                <a:latin typeface="Avenir Bold"/>
                <a:ea typeface="Avenir Bold"/>
                <a:cs typeface="Avenir Bold"/>
                <a:sym typeface="Avenir Bold"/>
              </a:rPr>
              <a:t>Déploiement et base de données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E5AB6-6033-BB30-FBF3-5D82E4DE2ECA}"/>
              </a:ext>
            </a:extLst>
          </p:cNvPr>
          <p:cNvGrpSpPr/>
          <p:nvPr/>
        </p:nvGrpSpPr>
        <p:grpSpPr>
          <a:xfrm>
            <a:off x="1447800" y="2781300"/>
            <a:ext cx="13702862" cy="4105828"/>
            <a:chOff x="775138" y="2561778"/>
            <a:chExt cx="13702862" cy="410582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9204DC-3DD7-C5AE-1814-B14D57CE2373}"/>
                </a:ext>
              </a:extLst>
            </p:cNvPr>
            <p:cNvSpPr txBox="1"/>
            <p:nvPr/>
          </p:nvSpPr>
          <p:spPr>
            <a:xfrm>
              <a:off x="1295400" y="3314700"/>
              <a:ext cx="13182600" cy="3352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Installation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de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 </a:t>
              </a: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Jest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 et </a:t>
              </a: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Supertest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Tests unitaires et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d’intégration sur toutes les 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APIs (User, </a:t>
              </a: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Auth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, Product, </a:t>
              </a: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Order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).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Correction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des bugs détectés.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Déploiement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sur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 </a:t>
              </a:r>
              <a:r>
                <a:rPr lang="fr-FR" sz="2400" b="1" dirty="0" err="1">
                  <a:solidFill>
                    <a:srgbClr val="8A8A8A"/>
                  </a:solidFill>
                  <a:latin typeface="Avenir" panose="020B0604020202020204" charset="0"/>
                </a:rPr>
                <a:t>Render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en production via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 Git.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Base de données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connectée via</a:t>
              </a: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 MongoDB Atlas.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sz="2400" b="1" dirty="0">
                  <a:solidFill>
                    <a:srgbClr val="8A8A8A"/>
                  </a:solidFill>
                  <a:latin typeface="Avenir" panose="020B0604020202020204" charset="0"/>
                </a:rPr>
                <a:t>Version </a:t>
              </a:r>
              <a:r>
                <a:rPr lang="fr-FR" sz="2400" dirty="0">
                  <a:solidFill>
                    <a:srgbClr val="8A8A8A"/>
                  </a:solidFill>
                  <a:latin typeface="Avenir" panose="020B0604020202020204" charset="0"/>
                </a:rPr>
                <a:t>finale fonctionnelle et stable prête à l’utilisation.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99AF1C-E285-3C5E-7988-F0CBAB9E73EB}"/>
                </a:ext>
              </a:extLst>
            </p:cNvPr>
            <p:cNvSpPr txBox="1"/>
            <p:nvPr/>
          </p:nvSpPr>
          <p:spPr>
            <a:xfrm>
              <a:off x="775138" y="2561778"/>
              <a:ext cx="64633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kern="1200" dirty="0">
                  <a:solidFill>
                    <a:srgbClr val="8CA9AD"/>
                  </a:solidFill>
                  <a:effectLst/>
                  <a:latin typeface="Avenir" panose="020B0604020202020204" charset="0"/>
                  <a:ea typeface="+mn-ea"/>
                  <a:cs typeface="+mn-cs"/>
                </a:rPr>
                <a:t>Workflow complet :</a:t>
              </a:r>
              <a:endParaRPr lang="en-US" sz="3600" b="1" dirty="0">
                <a:solidFill>
                  <a:srgbClr val="8CA9A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6067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79125" y="4152900"/>
            <a:ext cx="101346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fr-FR" sz="9600" b="1" noProof="0" dirty="0">
                <a:solidFill>
                  <a:schemeClr val="bg1"/>
                </a:solidFill>
                <a:latin typeface="Avenir Bold"/>
                <a:ea typeface="Avenir Bold"/>
                <a:cs typeface="Avenir Bold"/>
                <a:sym typeface="Avenir Bold"/>
              </a:rPr>
              <a:t>CONCLUSION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90700" y="1714500"/>
            <a:ext cx="1938412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fr-FR" sz="7000" b="1" noProof="0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06.</a:t>
            </a:r>
          </a:p>
        </p:txBody>
      </p:sp>
      <p:sp>
        <p:nvSpPr>
          <p:cNvPr id="8" name="Freeform 8"/>
          <p:cNvSpPr/>
          <p:nvPr/>
        </p:nvSpPr>
        <p:spPr>
          <a:xfrm>
            <a:off x="5893678" y="8135576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9" name="Freeform 9"/>
          <p:cNvSpPr/>
          <p:nvPr/>
        </p:nvSpPr>
        <p:spPr>
          <a:xfrm>
            <a:off x="1028700" y="8135576"/>
            <a:ext cx="4102978" cy="3133183"/>
          </a:xfrm>
          <a:custGeom>
            <a:avLst/>
            <a:gdLst/>
            <a:ahLst/>
            <a:cxnLst/>
            <a:rect l="l" t="t" r="r" b="b"/>
            <a:pathLst>
              <a:path w="4102978" h="3133183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grpSp>
        <p:nvGrpSpPr>
          <p:cNvPr id="10" name="Group 10"/>
          <p:cNvGrpSpPr/>
          <p:nvPr/>
        </p:nvGrpSpPr>
        <p:grpSpPr>
          <a:xfrm>
            <a:off x="13543121" y="-308824"/>
            <a:ext cx="7549097" cy="8444400"/>
            <a:chOff x="0" y="0"/>
            <a:chExt cx="10065462" cy="11259200"/>
          </a:xfrm>
        </p:grpSpPr>
        <p:sp>
          <p:nvSpPr>
            <p:cNvPr id="11" name="AutoShape 11"/>
            <p:cNvSpPr/>
            <p:nvPr/>
          </p:nvSpPr>
          <p:spPr>
            <a:xfrm flipV="1">
              <a:off x="23020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AutoShape 12"/>
            <p:cNvSpPr/>
            <p:nvPr/>
          </p:nvSpPr>
          <p:spPr>
            <a:xfrm flipV="1">
              <a:off x="554040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AutoShape 13"/>
            <p:cNvSpPr/>
            <p:nvPr/>
          </p:nvSpPr>
          <p:spPr>
            <a:xfrm flipV="1">
              <a:off x="108506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161608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AutoShape 15"/>
            <p:cNvSpPr/>
            <p:nvPr/>
          </p:nvSpPr>
          <p:spPr>
            <a:xfrm flipV="1">
              <a:off x="214710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AutoShape 16"/>
            <p:cNvSpPr/>
            <p:nvPr/>
          </p:nvSpPr>
          <p:spPr>
            <a:xfrm flipV="1">
              <a:off x="2678121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AutoShape 17"/>
            <p:cNvSpPr/>
            <p:nvPr/>
          </p:nvSpPr>
          <p:spPr>
            <a:xfrm flipV="1">
              <a:off x="320914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AutoShape 18"/>
            <p:cNvSpPr/>
            <p:nvPr/>
          </p:nvSpPr>
          <p:spPr>
            <a:xfrm flipV="1">
              <a:off x="374016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427118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AutoShape 20"/>
            <p:cNvSpPr/>
            <p:nvPr/>
          </p:nvSpPr>
          <p:spPr>
            <a:xfrm flipV="1">
              <a:off x="4802202" y="10735"/>
              <a:ext cx="5240240" cy="11237731"/>
            </a:xfrm>
            <a:prstGeom prst="line">
              <a:avLst/>
            </a:prstGeom>
            <a:ln w="50800" cap="flat">
              <a:solidFill>
                <a:srgbClr val="BBCBC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0238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/>
          <p:cNvSpPr/>
          <p:nvPr/>
        </p:nvSpPr>
        <p:spPr>
          <a:xfrm>
            <a:off x="2362200" y="9563100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282CAB-2630-419B-9446-119B5A4792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190500"/>
            <a:ext cx="2132859" cy="21328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9B7105-F785-4127-A865-6F2F67ED823E}"/>
              </a:ext>
            </a:extLst>
          </p:cNvPr>
          <p:cNvSpPr txBox="1"/>
          <p:nvPr/>
        </p:nvSpPr>
        <p:spPr>
          <a:xfrm>
            <a:off x="893247" y="3185936"/>
            <a:ext cx="1548975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 algn="ctr">
              <a:buFont typeface="Arial" panose="020B0604020202020204" pitchFamily="34" charset="0"/>
              <a:buNone/>
              <a:defRPr sz="2800" b="1">
                <a:solidFill>
                  <a:srgbClr val="8A8A8A"/>
                </a:solidFill>
                <a:latin typeface="Avenir" panose="020B0604020202020204" charset="0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fr-FR" sz="2500" dirty="0"/>
              <a:t>Architecture backend complète</a:t>
            </a:r>
            <a:r>
              <a:rPr lang="fr-FR" sz="2500" b="0" dirty="0"/>
              <a:t> en suivant le </a:t>
            </a:r>
            <a:r>
              <a:rPr lang="fr-FR" sz="2500" dirty="0"/>
              <a:t>MVC</a:t>
            </a:r>
            <a:r>
              <a:rPr lang="fr-FR" sz="2500" b="0" dirty="0"/>
              <a:t> avec une séparation claire des responsabilités entre les routes, contrôleurs, services et modèles.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BEA3F2-58BE-4099-A8CA-F327F7C4B76F}"/>
              </a:ext>
            </a:extLst>
          </p:cNvPr>
          <p:cNvSpPr txBox="1"/>
          <p:nvPr/>
        </p:nvSpPr>
        <p:spPr>
          <a:xfrm>
            <a:off x="893247" y="4712613"/>
            <a:ext cx="1600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 algn="ctr">
              <a:buFont typeface="Arial" panose="020B0604020202020204" pitchFamily="34" charset="0"/>
              <a:buNone/>
              <a:defRPr sz="2800" b="1">
                <a:solidFill>
                  <a:srgbClr val="8A8A8A"/>
                </a:solidFill>
                <a:latin typeface="Avenir" panose="020B0604020202020204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fr-FR" sz="2500" dirty="0"/>
              <a:t>L'API RESTful </a:t>
            </a:r>
            <a:r>
              <a:rPr lang="fr-FR" sz="2500" b="0" dirty="0"/>
              <a:t>implémente l'ensemble des opérations CRUD pour la gestion des produits et commandes, avec des endpoints structurés et une gestion appropriée des codes HTTP.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C3C50D-84B1-4816-80E7-51B8ADC89749}"/>
              </a:ext>
            </a:extLst>
          </p:cNvPr>
          <p:cNvSpPr txBox="1"/>
          <p:nvPr/>
        </p:nvSpPr>
        <p:spPr>
          <a:xfrm>
            <a:off x="893246" y="6239290"/>
            <a:ext cx="1518495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 algn="ctr">
              <a:buFont typeface="Arial" panose="020B0604020202020204" pitchFamily="34" charset="0"/>
              <a:buNone/>
              <a:defRPr sz="2800" b="1">
                <a:solidFill>
                  <a:srgbClr val="8A8A8A"/>
                </a:solidFill>
                <a:latin typeface="Avenir" panose="020B0604020202020204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fr-FR" sz="2500" dirty="0"/>
              <a:t>La sécurité </a:t>
            </a:r>
            <a:r>
              <a:rPr lang="fr-FR" sz="2500" b="0" dirty="0"/>
              <a:t>a été intégrée à tous les niveaux via l'authentification </a:t>
            </a:r>
            <a:r>
              <a:rPr lang="fr-FR" sz="2500" dirty="0"/>
              <a:t>JWT</a:t>
            </a:r>
            <a:r>
              <a:rPr lang="fr-FR" sz="2500" b="0" dirty="0"/>
              <a:t>, le hashage des mots de passe, la validation des données et les middlewares de protection.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DA6A8-F879-5ADB-AE26-AC56B61043C9}"/>
              </a:ext>
            </a:extLst>
          </p:cNvPr>
          <p:cNvSpPr txBox="1"/>
          <p:nvPr/>
        </p:nvSpPr>
        <p:spPr>
          <a:xfrm>
            <a:off x="893247" y="7765967"/>
            <a:ext cx="1495635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 algn="ctr">
              <a:buFont typeface="Arial" panose="020B0604020202020204" pitchFamily="34" charset="0"/>
              <a:buNone/>
              <a:defRPr sz="2800" b="1">
                <a:solidFill>
                  <a:srgbClr val="8A8A8A"/>
                </a:solidFill>
                <a:latin typeface="Avenir" panose="020B0604020202020204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fr-FR" sz="2500" dirty="0"/>
              <a:t>La qualité de production </a:t>
            </a:r>
            <a:r>
              <a:rPr lang="fr-FR" sz="2500" b="0" dirty="0"/>
              <a:t>est assurée par des tests automatisés, une gestion centralisée des erreurs, une documentation API et un déploiement fonctionnel sur </a:t>
            </a:r>
            <a:r>
              <a:rPr lang="fr-FR" sz="2500" dirty="0"/>
              <a:t>Render</a:t>
            </a:r>
            <a:r>
              <a:rPr lang="fr-FR" sz="2500" b="0" dirty="0"/>
              <a:t>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F75898B-9534-07F0-821A-915A1EAF212B}"/>
              </a:ext>
            </a:extLst>
          </p:cNvPr>
          <p:cNvSpPr txBox="1"/>
          <p:nvPr/>
        </p:nvSpPr>
        <p:spPr>
          <a:xfrm>
            <a:off x="1752600" y="1409700"/>
            <a:ext cx="6726444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fr-FR" sz="4500" b="1" dirty="0">
                <a:solidFill>
                  <a:srgbClr val="8CA9AD"/>
                </a:solidFill>
                <a:latin typeface="Avenir Bold"/>
                <a:ea typeface="Avenir Bold"/>
                <a:cs typeface="Avenir Bold"/>
                <a:sym typeface="Avenir Bold"/>
              </a:rPr>
              <a:t>CONCLUSION </a:t>
            </a:r>
            <a:endParaRPr lang="fr-FR" sz="4500" b="1" noProof="0" dirty="0">
              <a:solidFill>
                <a:srgbClr val="8CA9AD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</p:spTree>
    <p:extLst>
      <p:ext uri="{BB962C8B-B14F-4D97-AF65-F5344CB8AC3E}">
        <p14:creationId xmlns:p14="http://schemas.microsoft.com/office/powerpoint/2010/main" val="4144915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1981200" y="-94024"/>
            <a:ext cx="4102978" cy="2245448"/>
          </a:xfrm>
          <a:custGeom>
            <a:avLst/>
            <a:gdLst/>
            <a:ahLst/>
            <a:cxnLst/>
            <a:rect l="l" t="t" r="r" b="b"/>
            <a:pathLst>
              <a:path w="4102978" h="224544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6" name="Freeform 6"/>
          <p:cNvSpPr/>
          <p:nvPr/>
        </p:nvSpPr>
        <p:spPr>
          <a:xfrm>
            <a:off x="1981200" y="6267450"/>
            <a:ext cx="2880360" cy="4114800"/>
          </a:xfrm>
          <a:custGeom>
            <a:avLst/>
            <a:gdLst/>
            <a:ahLst/>
            <a:cxnLst/>
            <a:rect l="l" t="t" r="r" b="b"/>
            <a:pathLst>
              <a:path w="2880360" h="411480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2930142" y="3590671"/>
            <a:ext cx="12427716" cy="3105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00"/>
              </a:lnSpc>
            </a:pPr>
            <a:r>
              <a:rPr lang="fr-FR" sz="9600" b="1" noProof="0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MERCI POUR VOTRE ATTENTION</a:t>
            </a:r>
          </a:p>
        </p:txBody>
      </p:sp>
      <p:sp>
        <p:nvSpPr>
          <p:cNvPr id="10" name="Freeform 10"/>
          <p:cNvSpPr/>
          <p:nvPr/>
        </p:nvSpPr>
        <p:spPr>
          <a:xfrm rot="-10800000">
            <a:off x="5623560" y="7673106"/>
            <a:ext cx="3422956" cy="2613894"/>
          </a:xfrm>
          <a:custGeom>
            <a:avLst/>
            <a:gdLst/>
            <a:ahLst/>
            <a:cxnLst/>
            <a:rect l="l" t="t" r="r" b="b"/>
            <a:pathLst>
              <a:path w="3422956" h="2613894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1746</Words>
  <Application>Microsoft Office PowerPoint</Application>
  <PresentationFormat>Custom</PresentationFormat>
  <Paragraphs>283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Avenir Bold</vt:lpstr>
      <vt:lpstr>Avenir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Business Pitch Deck Presentation</dc:title>
  <dc:creator>Lamya</dc:creator>
  <cp:lastModifiedBy>Lamya</cp:lastModifiedBy>
  <cp:revision>100</cp:revision>
  <dcterms:created xsi:type="dcterms:W3CDTF">2006-08-16T00:00:00Z</dcterms:created>
  <dcterms:modified xsi:type="dcterms:W3CDTF">2025-11-14T07:31:54Z</dcterms:modified>
  <dc:identifier>DAG1wyNTtE4</dc:identifier>
</cp:coreProperties>
</file>